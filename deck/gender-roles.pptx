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c832a6-e4c3-a804-be6c-d06ff924b8db}">
          <p14:sldIdLst>
            <p14:sldId id="256"/>
          </p14:sldIdLst>
        </p14:section>
        <p14:section name="1. Definition" id="{4ef883d9-7c51-aaeb-6d96-306d0e1e9945}">
          <p14:sldIdLst>
            <p14:sldId id="257"/>
          </p14:sldIdLst>
        </p14:section>
        <p14:section name="2. History" id="{be9277f1-45d6-a6bf-080e-6390fa5a4813}">
          <p14:sldIdLst>
            <p14:sldId id="258"/>
          </p14:sldIdLst>
        </p14:section>
        <p14:section name="3. How roles are learned" id="{a2aa6d1c-4d26-f750-bdb1-3a2736f8f913}">
          <p14:sldIdLst>
            <p14:sldId id="259"/>
          </p14:sldIdLst>
        </p14:section>
        <p14:section name="4. Cultural variation" id="{96feb6ae-1367-d3e6-ea1f-10a7eb9c06cd}">
          <p14:sldIdLst>
            <p14:sldId id="260"/>
          </p14:sldIdLst>
        </p14:section>
        <p14:section name="5. Effects on individuals" id="{7058959b-d188-4961-89f1-8526ee3a1000}">
          <p14:sldIdLst>
            <p14:sldId id="261"/>
          </p14:sldIdLst>
        </p14:section>
        <p14:section name="6. Current trends" id="{c0a7560e-de4d-9805-4b37-38bef2836827}">
          <p14:sldIdLst>
            <p14:sldId id="262"/>
          </p14:sldIdLst>
        </p14:section>
        <p14:section name="7. Key takeaways" id="{ac48bd3e-32d2-247f-156d-f7c782a62756}">
          <p14:sldIdLst>
            <p14:sldId id="263"/>
          </p14:sldIdLst>
        </p14:section>
        <p14:section name="Further reading" id="{853782df-b3a0-138e-29ab-e57088aaa97c}">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society has ideas about how men and women should behave, what work they should do, and what they should value. This presentation explains these ideas in neutral terms, separates research findings from theory and opinion, and notes where experts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scientists widely use 'sex' for biology and 'gender' for social and cultural meanings. How much biology shapes average behavioural differences is still debated; most researchers see an interaction of biology and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shows roles are not fixed. Some examples: the Haudenosaunee (Iroquois) clan mothers held political power; in the Industrial Revolution the idea of 'separate spheres' spread among the middle classes; World War II drew millions of women into factories. Interpretations of prehistoric divisions of labour are actively debated.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average patterns; individuals vary widely. Causes are often multiple: for example, men's lower help-seeking is linked in research to norms about self-reliance, but access, cost, and other factors matter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3D2C5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731520" y="3657600"/>
            <a:ext cx="1069848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p>
            <a:pPr indent="0" marL="0">
              <a:buNone/>
            </a:pPr>
            <a:r>
              <a:rPr lang="en-US" sz="4800" b="1" dirty="0">
                <a:solidFill>
                  <a:schemeClr val="bg1"/>
                </a:solidFill>
              </a:rPr>
              <a:t>Gender Roles and Expectations</a:t>
            </a:r>
            <a:endParaRPr lang="en-US" sz="4800" dirty="0"/>
          </a:p>
        </p:txBody>
      </p:sp>
      <p:sp>
        <p:nvSpPr>
          <p:cNvPr id="3" name="Text 0"/>
          <p:cNvSpPr/>
          <p:nvPr>
            <p:ph idx="101" type="body" hasCustomPrompt="1"/>
          </p:nvPr>
        </p:nvSpPr>
        <p:spPr>
          <a:xfrm>
            <a:off x="731520" y="3657600"/>
            <a:ext cx="10698480" cy="1097280"/>
          </a:xfrm>
          <a:prstGeom prst="rect">
            <a:avLst/>
          </a:prstGeom>
          <a:noFill/>
          <a:ln/>
        </p:spPr>
        <p:txBody>
          <a:bodyPr wrap="square" rtlCol="0"/>
          <a:lstStyle/>
          <a:p>
            <a:pPr indent="0" marL="0">
              <a:buNone/>
            </a:pPr>
            <a:r>
              <a:rPr lang="en-US" sz="2000" dirty="0">
                <a:solidFill>
                  <a:schemeClr val="bg2"/>
                </a:solidFill>
              </a:rPr>
              <a:t>An introduction for a general audience: what they are, where they come from, and why they matter</a:t>
            </a:r>
            <a:endParaRPr lang="en-US" sz="2000" dirty="0"/>
          </a:p>
        </p:txBody>
      </p:sp>
      <p:sp>
        <p:nvSpPr>
          <p:cNvPr id="4" name="Shape 2"/>
          <p:cNvSpPr/>
          <p:nvPr/>
        </p:nvSpPr>
        <p:spPr>
          <a:xfrm>
            <a:off x="731520" y="914400"/>
            <a:ext cx="777240" cy="7772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25830" y="1108710"/>
            <a:ext cx="388620" cy="388620"/>
          </a:xfrm>
          <a:prstGeom prst="rect">
            <a:avLst/>
          </a:prstGeom>
        </p:spPr>
      </p:pic>
      <p:sp>
        <p:nvSpPr>
          <p:cNvPr id="6" name="Shape 3"/>
          <p:cNvSpPr/>
          <p:nvPr/>
        </p:nvSpPr>
        <p:spPr>
          <a:xfrm>
            <a:off x="1737360" y="914400"/>
            <a:ext cx="777240" cy="777240"/>
          </a:xfrm>
          <a:prstGeom prst="ellipse">
            <a:avLst/>
          </a:prstGeom>
          <a:solidFill>
            <a:schemeClr val="accent2"/>
          </a:solidFill>
          <a:ln w="12700">
            <a:solidFill>
              <a:schemeClr val="accent2"/>
            </a:solidFill>
            <a:prstDash val="solid"/>
          </a:ln>
        </p:spPr>
      </p:sp>
      <p:pic>
        <p:nvPicPr>
          <p:cNvPr id="7" name="Image 1" descr="preencoded.png">    </p:cNvPr>
          <p:cNvPicPr>
            <a:picLocks noChangeAspect="1"/>
          </p:cNvPicPr>
          <p:nvPr/>
        </p:nvPicPr>
        <p:blipFill>
          <a:blip r:embed="rId2"/>
          <a:stretch>
            <a:fillRect/>
          </a:stretch>
        </p:blipFill>
        <p:spPr>
          <a:xfrm>
            <a:off x="1931670" y="1108710"/>
            <a:ext cx="388620" cy="388620"/>
          </a:xfrm>
          <a:prstGeom prst="rect">
            <a:avLst/>
          </a:prstGeom>
        </p:spPr>
      </p:pic>
      <p:sp>
        <p:nvSpPr>
          <p:cNvPr id="8" name="Shape 4"/>
          <p:cNvSpPr/>
          <p:nvPr/>
        </p:nvSpPr>
        <p:spPr>
          <a:xfrm>
            <a:off x="2743200" y="914400"/>
            <a:ext cx="777240" cy="777240"/>
          </a:xfrm>
          <a:prstGeom prst="ellipse">
            <a:avLst/>
          </a:prstGeom>
          <a:solidFill>
            <a:schemeClr val="accent3"/>
          </a:solidFill>
          <a:ln w="12700">
            <a:solidFill>
              <a:schemeClr val="accent3"/>
            </a:solidFill>
            <a:prstDash val="solid"/>
          </a:ln>
        </p:spPr>
      </p:sp>
      <p:pic>
        <p:nvPicPr>
          <p:cNvPr id="9" name="Image 2" descr="preencoded.png">    </p:cNvPr>
          <p:cNvPicPr>
            <a:picLocks noChangeAspect="1"/>
          </p:cNvPicPr>
          <p:nvPr/>
        </p:nvPicPr>
        <p:blipFill>
          <a:blip r:embed="rId3"/>
          <a:stretch>
            <a:fillRect/>
          </a:stretch>
        </p:blipFill>
        <p:spPr>
          <a:xfrm>
            <a:off x="2937510" y="1108710"/>
            <a:ext cx="388620" cy="388620"/>
          </a:xfrm>
          <a:prstGeom prst="rect">
            <a:avLst/>
          </a:prstGeom>
        </p:spPr>
      </p:pic>
      <p:sp>
        <p:nvSpPr>
          <p:cNvPr id="10" name="Shape 5"/>
          <p:cNvSpPr/>
          <p:nvPr/>
        </p:nvSpPr>
        <p:spPr>
          <a:xfrm>
            <a:off x="3749040" y="914400"/>
            <a:ext cx="777240" cy="777240"/>
          </a:xfrm>
          <a:prstGeom prst="ellipse">
            <a:avLst/>
          </a:prstGeom>
          <a:solidFill>
            <a:schemeClr val="accent4"/>
          </a:solidFill>
          <a:ln w="12700">
            <a:solidFill>
              <a:schemeClr val="accent4"/>
            </a:solidFill>
            <a:prstDash val="solid"/>
          </a:ln>
        </p:spPr>
      </p:sp>
      <p:pic>
        <p:nvPicPr>
          <p:cNvPr id="11" name="Image 3" descr="preencoded.png">    </p:cNvPr>
          <p:cNvPicPr>
            <a:picLocks noChangeAspect="1"/>
          </p:cNvPicPr>
          <p:nvPr/>
        </p:nvPicPr>
        <p:blipFill>
          <a:blip r:embed="rId4"/>
          <a:stretch>
            <a:fillRect/>
          </a:stretch>
        </p:blipFill>
        <p:spPr>
          <a:xfrm>
            <a:off x="3943350" y="1108710"/>
            <a:ext cx="388620" cy="3886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600" b="1" dirty="0">
                <a:solidFill>
                  <a:schemeClr val="tx2"/>
                </a:solidFill>
              </a:rPr>
              <a:t>Sex, gender roles, and gender expectations</a:t>
            </a:r>
            <a:endParaRPr lang="en-US" sz="3600" dirty="0"/>
          </a:p>
        </p:txBody>
      </p:sp>
      <p:sp>
        <p:nvSpPr>
          <p:cNvPr id="3" name="Shape 1"/>
          <p:cNvSpPr/>
          <p:nvPr/>
        </p:nvSpPr>
        <p:spPr>
          <a:xfrm>
            <a:off x="548640" y="1463040"/>
            <a:ext cx="3520440" cy="420624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Shape 2"/>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28700" y="1943100"/>
            <a:ext cx="411480" cy="411480"/>
          </a:xfrm>
          <a:prstGeom prst="rect">
            <a:avLst/>
          </a:prstGeom>
        </p:spPr>
      </p:pic>
      <p:sp>
        <p:nvSpPr>
          <p:cNvPr id="6" name="Text 3"/>
          <p:cNvSpPr txBox="1"/>
          <p:nvPr/>
        </p:nvSpPr>
        <p:spPr>
          <a:xfrm>
            <a:off x="822960" y="2743200"/>
            <a:ext cx="30175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Biological sex</a:t>
            </a:r>
            <a:endParaRPr lang="en-US" sz="2200" dirty="0"/>
          </a:p>
        </p:txBody>
      </p:sp>
      <p:sp>
        <p:nvSpPr>
          <p:cNvPr id="7" name="Text 4"/>
          <p:cNvSpPr txBox="1"/>
          <p:nvPr/>
        </p:nvSpPr>
        <p:spPr>
          <a:xfrm>
            <a:off x="822960" y="3291840"/>
            <a:ext cx="3017520" cy="2194560"/>
          </a:xfrm>
          <a:prstGeom prst="rect">
            <a:avLst/>
          </a:prstGeom>
          <a:noFill/>
          <a:ln/>
        </p:spPr>
        <p:txBody>
          <a:bodyPr wrap="square" lIns="0" tIns="0" rIns="0" bIns="0" rtlCol="0" anchor="t"/>
          <a:lstStyle/>
          <a:p>
            <a:pPr indent="0" marL="0">
              <a:buNone/>
            </a:pPr>
            <a:r>
              <a:rPr lang="en-US" sz="1500" dirty="0">
                <a:solidFill>
                  <a:schemeClr val="tx1"/>
                </a:solidFill>
              </a:rPr>
              <a:t>Physical traits such as chromosomes, hormones, and reproductive anatomy. Usually recorded as female or male; a small share of people have intersex variations.</a:t>
            </a:r>
            <a:endParaRPr lang="en-US" sz="1500" dirty="0"/>
          </a:p>
        </p:txBody>
      </p:sp>
      <p:sp>
        <p:nvSpPr>
          <p:cNvPr id="8" name="Shape 5"/>
          <p:cNvSpPr/>
          <p:nvPr/>
        </p:nvSpPr>
        <p:spPr>
          <a:xfrm>
            <a:off x="4343400" y="1463040"/>
            <a:ext cx="3520440" cy="420624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Shape 6"/>
          <p:cNvSpPr/>
          <p:nvPr/>
        </p:nvSpPr>
        <p:spPr>
          <a:xfrm>
            <a:off x="4617720" y="1737360"/>
            <a:ext cx="822960" cy="82296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4823460" y="1943100"/>
            <a:ext cx="411480" cy="411480"/>
          </a:xfrm>
          <a:prstGeom prst="rect">
            <a:avLst/>
          </a:prstGeom>
        </p:spPr>
      </p:pic>
      <p:sp>
        <p:nvSpPr>
          <p:cNvPr id="11" name="Text 7"/>
          <p:cNvSpPr txBox="1"/>
          <p:nvPr/>
        </p:nvSpPr>
        <p:spPr>
          <a:xfrm>
            <a:off x="4617720" y="2743200"/>
            <a:ext cx="30175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Gender roles</a:t>
            </a:r>
            <a:endParaRPr lang="en-US" sz="2200" dirty="0"/>
          </a:p>
        </p:txBody>
      </p:sp>
      <p:sp>
        <p:nvSpPr>
          <p:cNvPr id="12" name="Text 8"/>
          <p:cNvSpPr txBox="1"/>
          <p:nvPr/>
        </p:nvSpPr>
        <p:spPr>
          <a:xfrm>
            <a:off x="4617720" y="3291840"/>
            <a:ext cx="3017520" cy="2194560"/>
          </a:xfrm>
          <a:prstGeom prst="rect">
            <a:avLst/>
          </a:prstGeom>
          <a:noFill/>
          <a:ln/>
        </p:spPr>
        <p:txBody>
          <a:bodyPr wrap="square" lIns="0" tIns="0" rIns="0" bIns="0" rtlCol="0" anchor="t"/>
          <a:lstStyle/>
          <a:p>
            <a:pPr indent="0" marL="0">
              <a:buNone/>
            </a:pPr>
            <a:r>
              <a:rPr lang="en-US" sz="1500" dirty="0">
                <a:solidFill>
                  <a:schemeClr val="tx1"/>
                </a:solidFill>
              </a:rPr>
              <a:t>The behaviours, jobs, and responsibilities a society associates with being a man or a woman, e.g. who earns, who cooks, who leads.</a:t>
            </a:r>
            <a:endParaRPr lang="en-US" sz="1500" dirty="0"/>
          </a:p>
        </p:txBody>
      </p:sp>
      <p:sp>
        <p:nvSpPr>
          <p:cNvPr id="13" name="Shape 9"/>
          <p:cNvSpPr/>
          <p:nvPr/>
        </p:nvSpPr>
        <p:spPr>
          <a:xfrm>
            <a:off x="8138160" y="1463040"/>
            <a:ext cx="3520440" cy="420624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Shape 10"/>
          <p:cNvSpPr/>
          <p:nvPr/>
        </p:nvSpPr>
        <p:spPr>
          <a:xfrm>
            <a:off x="8412480" y="1737360"/>
            <a:ext cx="822960" cy="822960"/>
          </a:xfrm>
          <a:prstGeom prst="ellipse">
            <a:avLst/>
          </a:prstGeom>
          <a:solidFill>
            <a:schemeClr val="accent4"/>
          </a:solidFill>
          <a:ln w="12700">
            <a:solidFill>
              <a:schemeClr val="accent4"/>
            </a:solidFill>
            <a:prstDash val="solid"/>
          </a:ln>
        </p:spPr>
      </p:sp>
      <p:pic>
        <p:nvPicPr>
          <p:cNvPr id="15" name="Image 2" descr="preencoded.png">    </p:cNvPr>
          <p:cNvPicPr>
            <a:picLocks noChangeAspect="1"/>
          </p:cNvPicPr>
          <p:nvPr/>
        </p:nvPicPr>
        <p:blipFill>
          <a:blip r:embed="rId3"/>
          <a:stretch>
            <a:fillRect/>
          </a:stretch>
        </p:blipFill>
        <p:spPr>
          <a:xfrm>
            <a:off x="8618220" y="1943100"/>
            <a:ext cx="411480" cy="411480"/>
          </a:xfrm>
          <a:prstGeom prst="rect">
            <a:avLst/>
          </a:prstGeom>
        </p:spPr>
      </p:pic>
      <p:sp>
        <p:nvSpPr>
          <p:cNvPr id="16" name="Text 11"/>
          <p:cNvSpPr txBox="1"/>
          <p:nvPr/>
        </p:nvSpPr>
        <p:spPr>
          <a:xfrm>
            <a:off x="8412480" y="2743200"/>
            <a:ext cx="30175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Gender expectations</a:t>
            </a:r>
            <a:endParaRPr lang="en-US" sz="2200" dirty="0"/>
          </a:p>
        </p:txBody>
      </p:sp>
      <p:sp>
        <p:nvSpPr>
          <p:cNvPr id="17" name="Text 12"/>
          <p:cNvSpPr txBox="1"/>
          <p:nvPr/>
        </p:nvSpPr>
        <p:spPr>
          <a:xfrm>
            <a:off x="8412480" y="3291840"/>
            <a:ext cx="3017520" cy="2194560"/>
          </a:xfrm>
          <a:prstGeom prst="rect">
            <a:avLst/>
          </a:prstGeom>
          <a:noFill/>
          <a:ln/>
        </p:spPr>
        <p:txBody>
          <a:bodyPr wrap="square" lIns="0" tIns="0" rIns="0" bIns="0" rtlCol="0" anchor="t"/>
          <a:lstStyle/>
          <a:p>
            <a:pPr indent="0" marL="0">
              <a:buNone/>
            </a:pPr>
            <a:r>
              <a:rPr lang="en-US" sz="1500" dirty="0">
                <a:solidFill>
                  <a:schemeClr val="tx1"/>
                </a:solidFill>
              </a:rPr>
              <a:t>The social pressure behind roles: the norms people feel they should meet, and the approval or disapproval they get when they do or don't.</a:t>
            </a:r>
            <a:endParaRPr lang="en-US" sz="1500" dirty="0"/>
          </a:p>
        </p:txBody>
      </p:sp>
      <p:sp>
        <p:nvSpPr>
          <p:cNvPr id="18" name="Text 13"/>
          <p:cNvSpPr txBox="1"/>
          <p:nvPr/>
        </p:nvSpPr>
        <p:spPr>
          <a:xfrm>
            <a:off x="548640" y="5943600"/>
            <a:ext cx="10972800" cy="457200"/>
          </a:xfrm>
          <a:prstGeom prst="rect">
            <a:avLst/>
          </a:prstGeom>
          <a:noFill/>
          <a:ln/>
        </p:spPr>
        <p:txBody>
          <a:bodyPr wrap="square" lIns="0" tIns="0" rIns="0" bIns="0" rtlCol="0" anchor="t"/>
          <a:lstStyle/>
          <a:p>
            <a:pPr indent="0" marL="0">
              <a:buNone/>
            </a:pPr>
            <a:r>
              <a:rPr lang="en-US" sz="1600" i="1" dirty="0">
                <a:solidFill>
                  <a:schemeClr val="accent4"/>
                </a:solidFill>
              </a:rPr>
              <a:t>Key distinction: sex is largely biological; roles and expectations are learned and change over time and place.</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600" b="1" dirty="0">
                <a:solidFill>
                  <a:schemeClr val="tx2"/>
                </a:solidFill>
              </a:rPr>
              <a:t>Roles have shifted across eras and cultures</a:t>
            </a:r>
            <a:endParaRPr lang="en-US" sz="3600" dirty="0"/>
          </a:p>
        </p:txBody>
      </p:sp>
      <p:sp>
        <p:nvSpPr>
          <p:cNvPr id="3" name="Shape 1"/>
          <p:cNvSpPr/>
          <p:nvPr/>
        </p:nvSpPr>
        <p:spPr>
          <a:xfrm>
            <a:off x="822960" y="2331720"/>
            <a:ext cx="10515600" cy="0"/>
          </a:xfrm>
          <a:prstGeom prst="line">
            <a:avLst/>
          </a:prstGeom>
          <a:noFill/>
          <a:ln w="38100">
            <a:solidFill>
              <a:schemeClr val="accent4"/>
            </a:solidFill>
            <a:prstDash val="solid"/>
          </a:ln>
        </p:spPr>
      </p:sp>
      <p:sp>
        <p:nvSpPr>
          <p:cNvPr id="4" name="Shape 2"/>
          <p:cNvSpPr/>
          <p:nvPr/>
        </p:nvSpPr>
        <p:spPr>
          <a:xfrm>
            <a:off x="1600200" y="2103120"/>
            <a:ext cx="457200" cy="457200"/>
          </a:xfrm>
          <a:prstGeom prst="ellipse">
            <a:avLst/>
          </a:prstGeom>
          <a:solidFill>
            <a:schemeClr val="accent1"/>
          </a:solidFill>
          <a:ln w="25400">
            <a:solidFill>
              <a:schemeClr val="bg1"/>
            </a:solidFill>
            <a:prstDash val="solid"/>
          </a:ln>
        </p:spPr>
      </p:sp>
      <p:sp>
        <p:nvSpPr>
          <p:cNvPr id="5" name="Shape 3"/>
          <p:cNvSpPr/>
          <p:nvPr/>
        </p:nvSpPr>
        <p:spPr>
          <a:xfrm>
            <a:off x="548640" y="2834640"/>
            <a:ext cx="2606040" cy="35661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6" name="Text 4"/>
          <p:cNvSpPr txBox="1"/>
          <p:nvPr/>
        </p:nvSpPr>
        <p:spPr>
          <a:xfrm>
            <a:off x="731520" y="3017520"/>
            <a:ext cx="2240280" cy="6400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Foraging societies</a:t>
            </a:r>
            <a:endParaRPr lang="en-US" sz="1800" dirty="0"/>
          </a:p>
        </p:txBody>
      </p:sp>
      <p:sp>
        <p:nvSpPr>
          <p:cNvPr id="7" name="Text 5"/>
          <p:cNvSpPr txBox="1"/>
          <p:nvPr/>
        </p:nvSpPr>
        <p:spPr>
          <a:xfrm>
            <a:off x="731520" y="3703320"/>
            <a:ext cx="2240280" cy="2560320"/>
          </a:xfrm>
          <a:prstGeom prst="rect">
            <a:avLst/>
          </a:prstGeom>
          <a:noFill/>
          <a:ln/>
        </p:spPr>
        <p:txBody>
          <a:bodyPr wrap="square" lIns="0" tIns="0" rIns="0" bIns="0" rtlCol="0" anchor="t"/>
          <a:lstStyle/>
          <a:p>
            <a:pPr indent="0" marL="0">
              <a:buNone/>
            </a:pPr>
            <a:r>
              <a:rPr lang="en-US" sz="1400" dirty="0">
                <a:solidFill>
                  <a:schemeClr val="tx1"/>
                </a:solidFill>
              </a:rPr>
              <a:t>Anthropologists find work was often divided by sex, but women's gathering frequently supplied much of the food; recent studies show women also hunted in many groups (still debated).</a:t>
            </a:r>
            <a:endParaRPr lang="en-US" sz="1400" dirty="0"/>
          </a:p>
        </p:txBody>
      </p:sp>
      <p:sp>
        <p:nvSpPr>
          <p:cNvPr id="8" name="Shape 6"/>
          <p:cNvSpPr/>
          <p:nvPr/>
        </p:nvSpPr>
        <p:spPr>
          <a:xfrm>
            <a:off x="4434840" y="2103120"/>
            <a:ext cx="457200" cy="457200"/>
          </a:xfrm>
          <a:prstGeom prst="ellipse">
            <a:avLst/>
          </a:prstGeom>
          <a:solidFill>
            <a:schemeClr val="accent2"/>
          </a:solidFill>
          <a:ln w="25400">
            <a:solidFill>
              <a:schemeClr val="bg1"/>
            </a:solidFill>
            <a:prstDash val="solid"/>
          </a:ln>
        </p:spPr>
      </p:sp>
      <p:sp>
        <p:nvSpPr>
          <p:cNvPr id="9" name="Shape 7"/>
          <p:cNvSpPr/>
          <p:nvPr/>
        </p:nvSpPr>
        <p:spPr>
          <a:xfrm>
            <a:off x="3383280" y="2834640"/>
            <a:ext cx="2606040" cy="35661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Text 8"/>
          <p:cNvSpPr txBox="1"/>
          <p:nvPr/>
        </p:nvSpPr>
        <p:spPr>
          <a:xfrm>
            <a:off x="3566160" y="3017520"/>
            <a:ext cx="2240280" cy="6400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Agrarian &amp; ancient states</a:t>
            </a:r>
            <a:endParaRPr lang="en-US" sz="1800" dirty="0"/>
          </a:p>
        </p:txBody>
      </p:sp>
      <p:sp>
        <p:nvSpPr>
          <p:cNvPr id="11" name="Text 9"/>
          <p:cNvSpPr txBox="1"/>
          <p:nvPr/>
        </p:nvSpPr>
        <p:spPr>
          <a:xfrm>
            <a:off x="3566160" y="3703320"/>
            <a:ext cx="2240280" cy="2560320"/>
          </a:xfrm>
          <a:prstGeom prst="rect">
            <a:avLst/>
          </a:prstGeom>
          <a:noFill/>
          <a:ln/>
        </p:spPr>
        <p:txBody>
          <a:bodyPr wrap="square" lIns="0" tIns="0" rIns="0" bIns="0" rtlCol="0" anchor="t"/>
          <a:lstStyle/>
          <a:p>
            <a:pPr indent="0" marL="0">
              <a:buNone/>
            </a:pPr>
            <a:r>
              <a:rPr lang="en-US" sz="1400" dirty="0">
                <a:solidFill>
                  <a:schemeClr val="tx1"/>
                </a:solidFill>
              </a:rPr>
              <a:t>Property and inheritance laws often favoured men. Yet variety existed: Spartan women managed estates; Haudenosaunee women chose clan leaders.</a:t>
            </a:r>
            <a:endParaRPr lang="en-US" sz="1400" dirty="0"/>
          </a:p>
        </p:txBody>
      </p:sp>
      <p:sp>
        <p:nvSpPr>
          <p:cNvPr id="12" name="Shape 10"/>
          <p:cNvSpPr/>
          <p:nvPr/>
        </p:nvSpPr>
        <p:spPr>
          <a:xfrm>
            <a:off x="7269480" y="2103120"/>
            <a:ext cx="457200" cy="457200"/>
          </a:xfrm>
          <a:prstGeom prst="ellipse">
            <a:avLst/>
          </a:prstGeom>
          <a:solidFill>
            <a:schemeClr val="accent3"/>
          </a:solidFill>
          <a:ln w="25400">
            <a:solidFill>
              <a:schemeClr val="bg1"/>
            </a:solidFill>
            <a:prstDash val="solid"/>
          </a:ln>
        </p:spPr>
      </p:sp>
      <p:sp>
        <p:nvSpPr>
          <p:cNvPr id="13" name="Shape 11"/>
          <p:cNvSpPr/>
          <p:nvPr/>
        </p:nvSpPr>
        <p:spPr>
          <a:xfrm>
            <a:off x="6217920" y="2834640"/>
            <a:ext cx="2606040" cy="35661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Text 12"/>
          <p:cNvSpPr txBox="1"/>
          <p:nvPr/>
        </p:nvSpPr>
        <p:spPr>
          <a:xfrm>
            <a:off x="6400800" y="3017520"/>
            <a:ext cx="2240280" cy="6400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Industrial era (1800s)</a:t>
            </a:r>
            <a:endParaRPr lang="en-US" sz="1800" dirty="0"/>
          </a:p>
        </p:txBody>
      </p:sp>
      <p:sp>
        <p:nvSpPr>
          <p:cNvPr id="15" name="Text 13"/>
          <p:cNvSpPr txBox="1"/>
          <p:nvPr/>
        </p:nvSpPr>
        <p:spPr>
          <a:xfrm>
            <a:off x="6400800" y="3703320"/>
            <a:ext cx="2240280" cy="2560320"/>
          </a:xfrm>
          <a:prstGeom prst="rect">
            <a:avLst/>
          </a:prstGeom>
          <a:noFill/>
          <a:ln/>
        </p:spPr>
        <p:txBody>
          <a:bodyPr wrap="square" lIns="0" tIns="0" rIns="0" bIns="0" rtlCol="0" anchor="t"/>
          <a:lstStyle/>
          <a:p>
            <a:pPr indent="0" marL="0">
              <a:buNone/>
            </a:pPr>
            <a:r>
              <a:rPr lang="en-US" sz="1400" dirty="0">
                <a:solidFill>
                  <a:schemeClr val="tx1"/>
                </a:solidFill>
              </a:rPr>
              <a:t>Paid work moved out of the home, popularising the 'male breadwinner, female homemaker' ideal, though working-class women kept working for wages.</a:t>
            </a:r>
            <a:endParaRPr lang="en-US" sz="1400" dirty="0"/>
          </a:p>
        </p:txBody>
      </p:sp>
      <p:sp>
        <p:nvSpPr>
          <p:cNvPr id="16" name="Shape 14"/>
          <p:cNvSpPr/>
          <p:nvPr/>
        </p:nvSpPr>
        <p:spPr>
          <a:xfrm>
            <a:off x="10104120" y="2103120"/>
            <a:ext cx="457200" cy="457200"/>
          </a:xfrm>
          <a:prstGeom prst="ellipse">
            <a:avLst/>
          </a:prstGeom>
          <a:solidFill>
            <a:schemeClr val="accent4"/>
          </a:solidFill>
          <a:ln w="25400">
            <a:solidFill>
              <a:schemeClr val="bg1"/>
            </a:solidFill>
            <a:prstDash val="solid"/>
          </a:ln>
        </p:spPr>
      </p:sp>
      <p:sp>
        <p:nvSpPr>
          <p:cNvPr id="17" name="Shape 15"/>
          <p:cNvSpPr/>
          <p:nvPr/>
        </p:nvSpPr>
        <p:spPr>
          <a:xfrm>
            <a:off x="9052560" y="2834640"/>
            <a:ext cx="2606040" cy="35661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8" name="Text 16"/>
          <p:cNvSpPr txBox="1"/>
          <p:nvPr/>
        </p:nvSpPr>
        <p:spPr>
          <a:xfrm>
            <a:off x="9235440" y="3017520"/>
            <a:ext cx="2240280" cy="6400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20th century to today</a:t>
            </a:r>
            <a:endParaRPr lang="en-US" sz="1800" dirty="0"/>
          </a:p>
        </p:txBody>
      </p:sp>
      <p:sp>
        <p:nvSpPr>
          <p:cNvPr id="19" name="Text 17"/>
          <p:cNvSpPr txBox="1"/>
          <p:nvPr/>
        </p:nvSpPr>
        <p:spPr>
          <a:xfrm>
            <a:off x="9235440" y="3703320"/>
            <a:ext cx="2240280" cy="2560320"/>
          </a:xfrm>
          <a:prstGeom prst="rect">
            <a:avLst/>
          </a:prstGeom>
          <a:noFill/>
          <a:ln/>
        </p:spPr>
        <p:txBody>
          <a:bodyPr wrap="square" lIns="0" tIns="0" rIns="0" bIns="0" rtlCol="0" anchor="t"/>
          <a:lstStyle/>
          <a:p>
            <a:pPr indent="0" marL="0">
              <a:buNone/>
            </a:pPr>
            <a:r>
              <a:rPr lang="en-US" sz="1400" dirty="0">
                <a:solidFill>
                  <a:schemeClr val="tx1"/>
                </a:solidFill>
              </a:rPr>
              <a:t>Wartime labour, suffrage movements, contraception, and rising education brought women into paid work and public life at scale.</a:t>
            </a:r>
            <a:endParaRPr lang="en-US" sz="1400" dirty="0"/>
          </a:p>
        </p:txBody>
      </p:sp>
      <p:sp>
        <p:nvSpPr>
          <p:cNvPr id="20" name="Text 18"/>
          <p:cNvSpPr txBox="1"/>
          <p:nvPr/>
        </p:nvSpPr>
        <p:spPr>
          <a:xfrm>
            <a:off x="548640" y="1417320"/>
            <a:ext cx="4572000" cy="365760"/>
          </a:xfrm>
          <a:prstGeom prst="rect">
            <a:avLst/>
          </a:prstGeom>
          <a:noFill/>
          <a:ln/>
        </p:spPr>
        <p:txBody>
          <a:bodyPr wrap="square" lIns="0" tIns="0" rIns="0" bIns="0" rtlCol="0" anchor="t"/>
          <a:lstStyle/>
          <a:p>
            <a:pPr indent="0" marL="0">
              <a:buNone/>
            </a:pPr>
            <a:r>
              <a:rPr lang="en-US" sz="1400" i="1" dirty="0">
                <a:solidFill>
                  <a:schemeClr val="accent4"/>
                </a:solidFill>
              </a:rPr>
              <a:t>Ancient   →   Modern</a:t>
            </a:r>
            <a:endParaRPr lang="en-US" sz="14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600" b="1" dirty="0">
                <a:solidFill>
                  <a:schemeClr val="tx2"/>
                </a:solidFill>
              </a:rPr>
              <a:t>How roles are learned: socialisation</a:t>
            </a:r>
            <a:endParaRPr lang="en-US" sz="3600" dirty="0"/>
          </a:p>
        </p:txBody>
      </p:sp>
      <p:sp>
        <p:nvSpPr>
          <p:cNvPr id="3" name="Text 1"/>
          <p:cNvSpPr txBox="1"/>
          <p:nvPr/>
        </p:nvSpPr>
        <p:spPr>
          <a:xfrm>
            <a:off x="548640" y="1280160"/>
            <a:ext cx="10972800" cy="457200"/>
          </a:xfrm>
          <a:prstGeom prst="rect">
            <a:avLst/>
          </a:prstGeom>
          <a:noFill/>
          <a:ln/>
        </p:spPr>
        <p:txBody>
          <a:bodyPr wrap="square" lIns="0" tIns="0" rIns="0" bIns="0" rtlCol="0" anchor="t"/>
          <a:lstStyle/>
          <a:p>
            <a:pPr indent="0" marL="0">
              <a:buNone/>
            </a:pPr>
            <a:r>
              <a:rPr lang="en-US" sz="1600" dirty="0">
                <a:solidFill>
                  <a:schemeClr val="tx1"/>
                </a:solidFill>
              </a:rPr>
              <a:t>Socialisation is the process by which people learn the norms of their society, starting in early childhood.</a:t>
            </a:r>
            <a:endParaRPr lang="en-US" sz="1600" dirty="0"/>
          </a:p>
        </p:txBody>
      </p:sp>
      <p:sp>
        <p:nvSpPr>
          <p:cNvPr id="4" name="Shape 2"/>
          <p:cNvSpPr/>
          <p:nvPr/>
        </p:nvSpPr>
        <p:spPr>
          <a:xfrm>
            <a:off x="1143000" y="2011680"/>
            <a:ext cx="914400" cy="9144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371600" y="2240280"/>
            <a:ext cx="457200" cy="457200"/>
          </a:xfrm>
          <a:prstGeom prst="rect">
            <a:avLst/>
          </a:prstGeom>
        </p:spPr>
      </p:pic>
      <p:sp>
        <p:nvSpPr>
          <p:cNvPr id="6" name="Text 3"/>
          <p:cNvSpPr txBox="1"/>
          <p:nvPr/>
        </p:nvSpPr>
        <p:spPr>
          <a:xfrm>
            <a:off x="548640" y="3108960"/>
            <a:ext cx="2103120" cy="457200"/>
          </a:xfrm>
          <a:prstGeom prst="rect">
            <a:avLst/>
          </a:prstGeom>
          <a:noFill/>
          <a:ln/>
        </p:spPr>
        <p:txBody>
          <a:bodyPr wrap="square" lIns="0" tIns="0" rIns="0" bIns="0" rtlCol="0" anchor="t"/>
          <a:lstStyle/>
          <a:p>
            <a:pPr algn="ctr" indent="0" marL="0">
              <a:buNone/>
            </a:pPr>
            <a:r>
              <a:rPr lang="en-US" sz="2000" b="1" dirty="0">
                <a:solidFill>
                  <a:schemeClr val="tx2"/>
                </a:solidFill>
                <a:latin typeface="Cambria" pitchFamily="34" charset="0"/>
                <a:ea typeface="Cambria" pitchFamily="34" charset="-122"/>
                <a:cs typeface="Cambria" pitchFamily="34" charset="-120"/>
              </a:rPr>
              <a:t>Family</a:t>
            </a:r>
            <a:endParaRPr lang="en-US" sz="2000" dirty="0"/>
          </a:p>
        </p:txBody>
      </p:sp>
      <p:sp>
        <p:nvSpPr>
          <p:cNvPr id="7" name="Text 4"/>
          <p:cNvSpPr txBox="1"/>
          <p:nvPr/>
        </p:nvSpPr>
        <p:spPr>
          <a:xfrm>
            <a:off x="594360" y="3657600"/>
            <a:ext cx="2011680" cy="1828800"/>
          </a:xfrm>
          <a:prstGeom prst="rect">
            <a:avLst/>
          </a:prstGeom>
          <a:noFill/>
          <a:ln/>
        </p:spPr>
        <p:txBody>
          <a:bodyPr wrap="square" lIns="0" tIns="0" rIns="0" bIns="0" rtlCol="0" anchor="t"/>
          <a:lstStyle/>
          <a:p>
            <a:pPr indent="0" marL="0">
              <a:buNone/>
            </a:pPr>
            <a:r>
              <a:rPr lang="en-US" sz="1400" dirty="0">
                <a:solidFill>
                  <a:schemeClr val="tx1"/>
                </a:solidFill>
              </a:rPr>
              <a:t>Chores, toys, and praise often differ by sex; children also copy what parents do.</a:t>
            </a:r>
            <a:endParaRPr lang="en-US" sz="1400" dirty="0"/>
          </a:p>
        </p:txBody>
      </p:sp>
      <p:sp>
        <p:nvSpPr>
          <p:cNvPr id="8" name="Shape 5"/>
          <p:cNvSpPr/>
          <p:nvPr/>
        </p:nvSpPr>
        <p:spPr>
          <a:xfrm>
            <a:off x="3429000" y="2011680"/>
            <a:ext cx="914400" cy="91440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3657600" y="2240280"/>
            <a:ext cx="457200" cy="457200"/>
          </a:xfrm>
          <a:prstGeom prst="rect">
            <a:avLst/>
          </a:prstGeom>
        </p:spPr>
      </p:pic>
      <p:sp>
        <p:nvSpPr>
          <p:cNvPr id="10" name="Text 6"/>
          <p:cNvSpPr txBox="1"/>
          <p:nvPr/>
        </p:nvSpPr>
        <p:spPr>
          <a:xfrm>
            <a:off x="2834640" y="3108960"/>
            <a:ext cx="2103120" cy="457200"/>
          </a:xfrm>
          <a:prstGeom prst="rect">
            <a:avLst/>
          </a:prstGeom>
          <a:noFill/>
          <a:ln/>
        </p:spPr>
        <p:txBody>
          <a:bodyPr wrap="square" lIns="0" tIns="0" rIns="0" bIns="0" rtlCol="0" anchor="t"/>
          <a:lstStyle/>
          <a:p>
            <a:pPr algn="ctr" indent="0" marL="0">
              <a:buNone/>
            </a:pPr>
            <a:r>
              <a:rPr lang="en-US" sz="2000" b="1" dirty="0">
                <a:solidFill>
                  <a:schemeClr val="tx2"/>
                </a:solidFill>
                <a:latin typeface="Cambria" pitchFamily="34" charset="0"/>
                <a:ea typeface="Cambria" pitchFamily="34" charset="-122"/>
                <a:cs typeface="Cambria" pitchFamily="34" charset="-120"/>
              </a:rPr>
              <a:t>Schools</a:t>
            </a:r>
            <a:endParaRPr lang="en-US" sz="2000" dirty="0"/>
          </a:p>
        </p:txBody>
      </p:sp>
      <p:sp>
        <p:nvSpPr>
          <p:cNvPr id="11" name="Text 7"/>
          <p:cNvSpPr txBox="1"/>
          <p:nvPr/>
        </p:nvSpPr>
        <p:spPr>
          <a:xfrm>
            <a:off x="2880360" y="3657600"/>
            <a:ext cx="2011680" cy="1828800"/>
          </a:xfrm>
          <a:prstGeom prst="rect">
            <a:avLst/>
          </a:prstGeom>
          <a:noFill/>
          <a:ln/>
        </p:spPr>
        <p:txBody>
          <a:bodyPr wrap="square" lIns="0" tIns="0" rIns="0" bIns="0" rtlCol="0" anchor="t"/>
          <a:lstStyle/>
          <a:p>
            <a:pPr indent="0" marL="0">
              <a:buNone/>
            </a:pPr>
            <a:r>
              <a:rPr lang="en-US" sz="1400" dirty="0">
                <a:solidFill>
                  <a:schemeClr val="tx1"/>
                </a:solidFill>
              </a:rPr>
              <a:t>Teacher attention, subject 'fit', and peer culture can steer interests.</a:t>
            </a:r>
            <a:endParaRPr lang="en-US" sz="1400" dirty="0"/>
          </a:p>
        </p:txBody>
      </p:sp>
      <p:sp>
        <p:nvSpPr>
          <p:cNvPr id="12" name="Shape 8"/>
          <p:cNvSpPr/>
          <p:nvPr/>
        </p:nvSpPr>
        <p:spPr>
          <a:xfrm>
            <a:off x="5715000" y="2011680"/>
            <a:ext cx="914400" cy="914400"/>
          </a:xfrm>
          <a:prstGeom prst="ellipse">
            <a:avLst/>
          </a:prstGeom>
          <a:solidFill>
            <a:schemeClr val="accent6"/>
          </a:solidFill>
          <a:ln w="12700">
            <a:solidFill>
              <a:schemeClr val="accent6"/>
            </a:solidFill>
            <a:prstDash val="solid"/>
          </a:ln>
        </p:spPr>
      </p:sp>
      <p:pic>
        <p:nvPicPr>
          <p:cNvPr id="13" name="Image 2" descr="preencoded.png">    </p:cNvPr>
          <p:cNvPicPr>
            <a:picLocks noChangeAspect="1"/>
          </p:cNvPicPr>
          <p:nvPr/>
        </p:nvPicPr>
        <p:blipFill>
          <a:blip r:embed="rId3"/>
          <a:stretch>
            <a:fillRect/>
          </a:stretch>
        </p:blipFill>
        <p:spPr>
          <a:xfrm>
            <a:off x="5943600" y="2240280"/>
            <a:ext cx="457200" cy="457200"/>
          </a:xfrm>
          <a:prstGeom prst="rect">
            <a:avLst/>
          </a:prstGeom>
        </p:spPr>
      </p:pic>
      <p:sp>
        <p:nvSpPr>
          <p:cNvPr id="14" name="Text 9"/>
          <p:cNvSpPr txBox="1"/>
          <p:nvPr/>
        </p:nvSpPr>
        <p:spPr>
          <a:xfrm>
            <a:off x="5120640" y="3108960"/>
            <a:ext cx="2103120" cy="457200"/>
          </a:xfrm>
          <a:prstGeom prst="rect">
            <a:avLst/>
          </a:prstGeom>
          <a:noFill/>
          <a:ln/>
        </p:spPr>
        <p:txBody>
          <a:bodyPr wrap="square" lIns="0" tIns="0" rIns="0" bIns="0" rtlCol="0" anchor="t"/>
          <a:lstStyle/>
          <a:p>
            <a:pPr algn="ctr" indent="0" marL="0">
              <a:buNone/>
            </a:pPr>
            <a:r>
              <a:rPr lang="en-US" sz="2000" b="1" dirty="0">
                <a:solidFill>
                  <a:schemeClr val="tx2"/>
                </a:solidFill>
                <a:latin typeface="Cambria" pitchFamily="34" charset="0"/>
                <a:ea typeface="Cambria" pitchFamily="34" charset="-122"/>
                <a:cs typeface="Cambria" pitchFamily="34" charset="-120"/>
              </a:rPr>
              <a:t>Media</a:t>
            </a:r>
            <a:endParaRPr lang="en-US" sz="2000" dirty="0"/>
          </a:p>
        </p:txBody>
      </p:sp>
      <p:sp>
        <p:nvSpPr>
          <p:cNvPr id="15" name="Text 10"/>
          <p:cNvSpPr txBox="1"/>
          <p:nvPr/>
        </p:nvSpPr>
        <p:spPr>
          <a:xfrm>
            <a:off x="5166360" y="3657600"/>
            <a:ext cx="2011680" cy="1828800"/>
          </a:xfrm>
          <a:prstGeom prst="rect">
            <a:avLst/>
          </a:prstGeom>
          <a:noFill/>
          <a:ln/>
        </p:spPr>
        <p:txBody>
          <a:bodyPr wrap="square" lIns="0" tIns="0" rIns="0" bIns="0" rtlCol="0" anchor="t"/>
          <a:lstStyle/>
          <a:p>
            <a:pPr indent="0" marL="0">
              <a:buNone/>
            </a:pPr>
            <a:r>
              <a:rPr lang="en-US" sz="1400" dirty="0">
                <a:solidFill>
                  <a:schemeClr val="tx1"/>
                </a:solidFill>
              </a:rPr>
              <a:t>Ads, films, and social media repeat images of who is a hero, carer, or expert.</a:t>
            </a:r>
            <a:endParaRPr lang="en-US" sz="1400" dirty="0"/>
          </a:p>
        </p:txBody>
      </p:sp>
      <p:sp>
        <p:nvSpPr>
          <p:cNvPr id="16" name="Shape 11"/>
          <p:cNvSpPr/>
          <p:nvPr/>
        </p:nvSpPr>
        <p:spPr>
          <a:xfrm>
            <a:off x="8001000" y="2011680"/>
            <a:ext cx="914400" cy="914400"/>
          </a:xfrm>
          <a:prstGeom prst="ellipse">
            <a:avLst/>
          </a:prstGeom>
          <a:solidFill>
            <a:schemeClr val="accent4"/>
          </a:solidFill>
          <a:ln w="12700">
            <a:solidFill>
              <a:schemeClr val="accent4"/>
            </a:solidFill>
            <a:prstDash val="solid"/>
          </a:ln>
        </p:spPr>
      </p:sp>
      <p:pic>
        <p:nvPicPr>
          <p:cNvPr id="17" name="Image 3" descr="preencoded.png">    </p:cNvPr>
          <p:cNvPicPr>
            <a:picLocks noChangeAspect="1"/>
          </p:cNvPicPr>
          <p:nvPr/>
        </p:nvPicPr>
        <p:blipFill>
          <a:blip r:embed="rId4"/>
          <a:stretch>
            <a:fillRect/>
          </a:stretch>
        </p:blipFill>
        <p:spPr>
          <a:xfrm>
            <a:off x="8229600" y="2240280"/>
            <a:ext cx="457200" cy="457200"/>
          </a:xfrm>
          <a:prstGeom prst="rect">
            <a:avLst/>
          </a:prstGeom>
        </p:spPr>
      </p:pic>
      <p:sp>
        <p:nvSpPr>
          <p:cNvPr id="18" name="Text 12"/>
          <p:cNvSpPr txBox="1"/>
          <p:nvPr/>
        </p:nvSpPr>
        <p:spPr>
          <a:xfrm>
            <a:off x="7406640" y="3108960"/>
            <a:ext cx="2103120" cy="457200"/>
          </a:xfrm>
          <a:prstGeom prst="rect">
            <a:avLst/>
          </a:prstGeom>
          <a:noFill/>
          <a:ln/>
        </p:spPr>
        <p:txBody>
          <a:bodyPr wrap="square" lIns="0" tIns="0" rIns="0" bIns="0" rtlCol="0" anchor="t"/>
          <a:lstStyle/>
          <a:p>
            <a:pPr algn="ctr" indent="0" marL="0">
              <a:buNone/>
            </a:pPr>
            <a:r>
              <a:rPr lang="en-US" sz="2000" b="1" dirty="0">
                <a:solidFill>
                  <a:schemeClr val="tx2"/>
                </a:solidFill>
                <a:latin typeface="Cambria" pitchFamily="34" charset="0"/>
                <a:ea typeface="Cambria" pitchFamily="34" charset="-122"/>
                <a:cs typeface="Cambria" pitchFamily="34" charset="-120"/>
              </a:rPr>
              <a:t>Peers</a:t>
            </a:r>
            <a:endParaRPr lang="en-US" sz="2000" dirty="0"/>
          </a:p>
        </p:txBody>
      </p:sp>
      <p:sp>
        <p:nvSpPr>
          <p:cNvPr id="19" name="Text 13"/>
          <p:cNvSpPr txBox="1"/>
          <p:nvPr/>
        </p:nvSpPr>
        <p:spPr>
          <a:xfrm>
            <a:off x="7452360" y="3657600"/>
            <a:ext cx="2011680" cy="1828800"/>
          </a:xfrm>
          <a:prstGeom prst="rect">
            <a:avLst/>
          </a:prstGeom>
          <a:noFill/>
          <a:ln/>
        </p:spPr>
        <p:txBody>
          <a:bodyPr wrap="square" lIns="0" tIns="0" rIns="0" bIns="0" rtlCol="0" anchor="t"/>
          <a:lstStyle/>
          <a:p>
            <a:pPr indent="0" marL="0">
              <a:buNone/>
            </a:pPr>
            <a:r>
              <a:rPr lang="en-US" sz="1400" dirty="0">
                <a:solidFill>
                  <a:schemeClr val="tx1"/>
                </a:solidFill>
              </a:rPr>
              <a:t>Friends reward 'fitting in' and can tease those who don't, especially in adolescence.</a:t>
            </a:r>
            <a:endParaRPr lang="en-US" sz="1400" dirty="0"/>
          </a:p>
        </p:txBody>
      </p:sp>
      <p:sp>
        <p:nvSpPr>
          <p:cNvPr id="20" name="Shape 14"/>
          <p:cNvSpPr/>
          <p:nvPr/>
        </p:nvSpPr>
        <p:spPr>
          <a:xfrm>
            <a:off x="10287000" y="2011680"/>
            <a:ext cx="914400" cy="914400"/>
          </a:xfrm>
          <a:prstGeom prst="ellipse">
            <a:avLst/>
          </a:prstGeom>
          <a:solidFill>
            <a:schemeClr val="accent5"/>
          </a:solidFill>
          <a:ln w="12700">
            <a:solidFill>
              <a:schemeClr val="accent5"/>
            </a:solidFill>
            <a:prstDash val="solid"/>
          </a:ln>
        </p:spPr>
      </p:sp>
      <p:pic>
        <p:nvPicPr>
          <p:cNvPr id="21" name="Image 4" descr="preencoded.png">    </p:cNvPr>
          <p:cNvPicPr>
            <a:picLocks noChangeAspect="1"/>
          </p:cNvPicPr>
          <p:nvPr/>
        </p:nvPicPr>
        <p:blipFill>
          <a:blip r:embed="rId5"/>
          <a:stretch>
            <a:fillRect/>
          </a:stretch>
        </p:blipFill>
        <p:spPr>
          <a:xfrm>
            <a:off x="10515600" y="2240280"/>
            <a:ext cx="457200" cy="457200"/>
          </a:xfrm>
          <a:prstGeom prst="rect">
            <a:avLst/>
          </a:prstGeom>
        </p:spPr>
      </p:pic>
      <p:sp>
        <p:nvSpPr>
          <p:cNvPr id="22" name="Text 15"/>
          <p:cNvSpPr txBox="1"/>
          <p:nvPr/>
        </p:nvSpPr>
        <p:spPr>
          <a:xfrm>
            <a:off x="9692640" y="3108960"/>
            <a:ext cx="2103120" cy="457200"/>
          </a:xfrm>
          <a:prstGeom prst="rect">
            <a:avLst/>
          </a:prstGeom>
          <a:noFill/>
          <a:ln/>
        </p:spPr>
        <p:txBody>
          <a:bodyPr wrap="square" lIns="0" tIns="0" rIns="0" bIns="0" rtlCol="0" anchor="t"/>
          <a:lstStyle/>
          <a:p>
            <a:pPr algn="ctr" indent="0" marL="0">
              <a:buNone/>
            </a:pPr>
            <a:r>
              <a:rPr lang="en-US" sz="2000" b="1" dirty="0">
                <a:solidFill>
                  <a:schemeClr val="tx2"/>
                </a:solidFill>
                <a:latin typeface="Cambria" pitchFamily="34" charset="0"/>
                <a:ea typeface="Cambria" pitchFamily="34" charset="-122"/>
                <a:cs typeface="Cambria" pitchFamily="34" charset="-120"/>
              </a:rPr>
              <a:t>Religion</a:t>
            </a:r>
            <a:endParaRPr lang="en-US" sz="2000" dirty="0"/>
          </a:p>
        </p:txBody>
      </p:sp>
      <p:sp>
        <p:nvSpPr>
          <p:cNvPr id="23" name="Text 16"/>
          <p:cNvSpPr txBox="1"/>
          <p:nvPr/>
        </p:nvSpPr>
        <p:spPr>
          <a:xfrm>
            <a:off x="9738360" y="3657600"/>
            <a:ext cx="2011680" cy="1828800"/>
          </a:xfrm>
          <a:prstGeom prst="rect">
            <a:avLst/>
          </a:prstGeom>
          <a:noFill/>
          <a:ln/>
        </p:spPr>
        <p:txBody>
          <a:bodyPr wrap="square" lIns="0" tIns="0" rIns="0" bIns="0" rtlCol="0" anchor="t"/>
          <a:lstStyle/>
          <a:p>
            <a:pPr indent="0" marL="0">
              <a:buNone/>
            </a:pPr>
            <a:r>
              <a:rPr lang="en-US" sz="1400" dirty="0">
                <a:solidFill>
                  <a:schemeClr val="tx1"/>
                </a:solidFill>
              </a:rPr>
              <a:t>Many traditions teach views on family roles; interpretations range from traditional to egalitarian.</a:t>
            </a:r>
            <a:endParaRPr lang="en-US" sz="1400" dirty="0"/>
          </a:p>
        </p:txBody>
      </p:sp>
      <p:sp>
        <p:nvSpPr>
          <p:cNvPr id="24" name="Text 17"/>
          <p:cNvSpPr txBox="1"/>
          <p:nvPr/>
        </p:nvSpPr>
        <p:spPr>
          <a:xfrm>
            <a:off x="548640" y="5577840"/>
            <a:ext cx="11064240" cy="822960"/>
          </a:xfrm>
          <a:prstGeom prst="rect">
            <a:avLst/>
          </a:prstGeom>
          <a:noFill/>
          <a:ln/>
        </p:spPr>
        <p:txBody>
          <a:bodyPr wrap="square" lIns="0" tIns="0" rIns="0" bIns="0" rtlCol="0" anchor="t"/>
          <a:lstStyle/>
          <a:p>
            <a:pPr indent="0" marL="0">
              <a:buNone/>
            </a:pPr>
            <a:r>
              <a:rPr lang="en-US" sz="1400" i="1" dirty="0">
                <a:solidFill>
                  <a:schemeClr val="accent4"/>
                </a:solidFill>
              </a:rPr>
              <a:t>Theories differ on emphasis: social learning theory stresses imitation and reward; cognitive theories stress children actively sorting the world into categories; biosocial models add biological influences.</a:t>
            </a:r>
            <a:endParaRPr lang="en-US" sz="14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600" b="1" dirty="0">
                <a:solidFill>
                  <a:schemeClr val="tx2"/>
                </a:solidFill>
              </a:rPr>
              <a:t>Where cultures differ, and where they overlap</a:t>
            </a:r>
            <a:endParaRPr lang="en-US" sz="3600" dirty="0"/>
          </a:p>
        </p:txBody>
      </p:sp>
      <p:sp>
        <p:nvSpPr>
          <p:cNvPr id="3" name="Shape 1"/>
          <p:cNvSpPr/>
          <p:nvPr/>
        </p:nvSpPr>
        <p:spPr>
          <a:xfrm>
            <a:off x="548640" y="1463040"/>
            <a:ext cx="5394960" cy="4754880"/>
          </a:xfrm>
          <a:prstGeom prst="roundRect">
            <a:avLst>
              <a:gd name="adj" fmla="val 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Shape 2"/>
          <p:cNvSpPr/>
          <p:nvPr/>
        </p:nvSpPr>
        <p:spPr>
          <a:xfrm>
            <a:off x="6217920" y="1463040"/>
            <a:ext cx="5394960" cy="4754880"/>
          </a:xfrm>
          <a:prstGeom prst="roundRect">
            <a:avLst>
              <a:gd name="adj" fmla="val 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Shape 3"/>
          <p:cNvSpPr/>
          <p:nvPr/>
        </p:nvSpPr>
        <p:spPr>
          <a:xfrm>
            <a:off x="822960" y="1691640"/>
            <a:ext cx="731520" cy="73152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7" name="Shape 4"/>
          <p:cNvSpPr/>
          <p:nvPr/>
        </p:nvSpPr>
        <p:spPr>
          <a:xfrm>
            <a:off x="6492240" y="1691640"/>
            <a:ext cx="731520" cy="73152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6675120" y="1874520"/>
            <a:ext cx="365760" cy="365760"/>
          </a:xfrm>
          <a:prstGeom prst="rect">
            <a:avLst/>
          </a:prstGeom>
        </p:spPr>
      </p:pic>
      <p:sp>
        <p:nvSpPr>
          <p:cNvPr id="9" name="Text 5"/>
          <p:cNvSpPr txBox="1"/>
          <p:nvPr/>
        </p:nvSpPr>
        <p:spPr>
          <a:xfrm>
            <a:off x="1737360" y="1828800"/>
            <a:ext cx="365760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Differences</a:t>
            </a:r>
            <a:endParaRPr lang="en-US" sz="2200" dirty="0"/>
          </a:p>
        </p:txBody>
      </p:sp>
      <p:sp>
        <p:nvSpPr>
          <p:cNvPr id="10" name="Text 6"/>
          <p:cNvSpPr txBox="1"/>
          <p:nvPr/>
        </p:nvSpPr>
        <p:spPr>
          <a:xfrm>
            <a:off x="7406640" y="1828800"/>
            <a:ext cx="365760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Overlaps</a:t>
            </a:r>
            <a:endParaRPr lang="en-US" sz="2200" dirty="0"/>
          </a:p>
        </p:txBody>
      </p:sp>
      <p:sp>
        <p:nvSpPr>
          <p:cNvPr id="11" name="Text 7"/>
          <p:cNvSpPr txBox="1"/>
          <p:nvPr/>
        </p:nvSpPr>
        <p:spPr>
          <a:xfrm>
            <a:off x="822960" y="2651760"/>
            <a:ext cx="484632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Women's paid-work rates vary widely, from under 20% in some countries to over 60% in others (ILO data)</a:t>
            </a:r>
            <a:endParaRPr lang="en-US" sz="1500" dirty="0"/>
          </a:p>
          <a:p>
            <a:pPr marL="342900" indent="-342900">
              <a:spcAft>
                <a:spcPts val="800"/>
              </a:spcAft>
              <a:buSzPct val="100000"/>
              <a:buChar char="•"/>
            </a:pPr>
            <a:r>
              <a:rPr lang="en-US" sz="1500" dirty="0">
                <a:solidFill>
                  <a:schemeClr val="tx1"/>
                </a:solidFill>
              </a:rPr>
              <a:t>Some cultures recognise more than two gender categories, e.g. hijra in South Asia, fa'afafine in Samoa</a:t>
            </a:r>
            <a:endParaRPr lang="en-US" sz="1500" dirty="0"/>
          </a:p>
          <a:p>
            <a:pPr marL="342900" indent="-342900">
              <a:spcAft>
                <a:spcPts val="800"/>
              </a:spcAft>
              <a:buSzPct val="100000"/>
              <a:buChar char="•"/>
            </a:pPr>
            <a:r>
              <a:rPr lang="en-US" sz="1500" dirty="0">
                <a:solidFill>
                  <a:schemeClr val="tx1"/>
                </a:solidFill>
              </a:rPr>
              <a:t>Matrilineal societies (e.g. the Minangkabau of Indonesia) pass property through women</a:t>
            </a:r>
            <a:endParaRPr lang="en-US" sz="1500" dirty="0"/>
          </a:p>
          <a:p>
            <a:pPr marL="342900" indent="-342900">
              <a:spcAft>
                <a:spcPts val="800"/>
              </a:spcAft>
              <a:buSzPct val="100000"/>
              <a:buChar char="•"/>
            </a:pPr>
            <a:r>
              <a:rPr lang="en-US" sz="1500" dirty="0">
                <a:solidFill>
                  <a:schemeClr val="tx1"/>
                </a:solidFill>
              </a:rPr>
              <a:t>Laws on inheritance, dress, and divorce differ greatly</a:t>
            </a:r>
            <a:endParaRPr lang="en-US" sz="1500" dirty="0"/>
          </a:p>
        </p:txBody>
      </p:sp>
      <p:sp>
        <p:nvSpPr>
          <p:cNvPr id="12" name="Text 8"/>
          <p:cNvSpPr txBox="1"/>
          <p:nvPr/>
        </p:nvSpPr>
        <p:spPr>
          <a:xfrm>
            <a:off x="6492240" y="2651760"/>
            <a:ext cx="484632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Caregiving for young children falls mostly to women in nearly every society surveyed</a:t>
            </a:r>
            <a:endParaRPr lang="en-US" sz="1500" dirty="0"/>
          </a:p>
          <a:p>
            <a:pPr marL="342900" indent="-342900">
              <a:spcAft>
                <a:spcPts val="800"/>
              </a:spcAft>
              <a:buSzPct val="100000"/>
              <a:buChar char="•"/>
            </a:pPr>
            <a:r>
              <a:rPr lang="en-US" sz="1500" dirty="0">
                <a:solidFill>
                  <a:schemeClr val="tx1"/>
                </a:solidFill>
              </a:rPr>
              <a:t>Leadership and warfare have often been male-dominated</a:t>
            </a:r>
            <a:endParaRPr lang="en-US" sz="1500" dirty="0"/>
          </a:p>
          <a:p>
            <a:pPr marL="342900" indent="-342900">
              <a:spcAft>
                <a:spcPts val="800"/>
              </a:spcAft>
              <a:buSzPct val="100000"/>
              <a:buChar char="•"/>
            </a:pPr>
            <a:r>
              <a:rPr lang="en-US" sz="1500" dirty="0">
                <a:solidFill>
                  <a:schemeClr val="tx1"/>
                </a:solidFill>
              </a:rPr>
              <a:t>Unpaid domestic work is unequally shared almost everywhere, though gaps vary in size</a:t>
            </a:r>
            <a:endParaRPr lang="en-US" sz="1500" dirty="0"/>
          </a:p>
          <a:p>
            <a:pPr marL="342900" indent="-342900">
              <a:spcAft>
                <a:spcPts val="800"/>
              </a:spcAft>
              <a:buSzPct val="100000"/>
              <a:buChar char="•"/>
            </a:pPr>
            <a:r>
              <a:rPr lang="en-US" sz="1500" dirty="0">
                <a:solidFill>
                  <a:schemeClr val="tx1"/>
                </a:solidFill>
              </a:rPr>
              <a:t>Researchers debate whether overlaps reflect biology, shared economic history, or both</a:t>
            </a:r>
            <a:endParaRPr lang="en-US" sz="15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600" b="1" dirty="0">
                <a:solidFill>
                  <a:schemeClr val="tx2"/>
                </a:solidFill>
              </a:rPr>
              <a:t>How rigid expectations can affect people</a:t>
            </a:r>
            <a:endParaRPr lang="en-US" sz="3600" dirty="0"/>
          </a:p>
        </p:txBody>
      </p:sp>
      <p:sp>
        <p:nvSpPr>
          <p:cNvPr id="3" name="Shape 1"/>
          <p:cNvSpPr/>
          <p:nvPr/>
        </p:nvSpPr>
        <p:spPr>
          <a:xfrm>
            <a:off x="548640" y="1417320"/>
            <a:ext cx="539496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Shape 2"/>
          <p:cNvSpPr/>
          <p:nvPr/>
        </p:nvSpPr>
        <p:spPr>
          <a:xfrm>
            <a:off x="822960" y="1691640"/>
            <a:ext cx="777240" cy="7772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17270" y="1885950"/>
            <a:ext cx="388620" cy="388620"/>
          </a:xfrm>
          <a:prstGeom prst="rect">
            <a:avLst/>
          </a:prstGeom>
        </p:spPr>
      </p:pic>
      <p:sp>
        <p:nvSpPr>
          <p:cNvPr id="6" name="Text 3"/>
          <p:cNvSpPr txBox="1"/>
          <p:nvPr/>
        </p:nvSpPr>
        <p:spPr>
          <a:xfrm>
            <a:off x="1828800" y="169164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Work</a:t>
            </a:r>
            <a:endParaRPr lang="en-US" sz="2000" dirty="0"/>
          </a:p>
        </p:txBody>
      </p:sp>
      <p:sp>
        <p:nvSpPr>
          <p:cNvPr id="7" name="Text 4"/>
          <p:cNvSpPr txBox="1"/>
          <p:nvPr/>
        </p:nvSpPr>
        <p:spPr>
          <a:xfrm>
            <a:off x="1828800" y="2148840"/>
            <a:ext cx="3886200" cy="1463040"/>
          </a:xfrm>
          <a:prstGeom prst="rect">
            <a:avLst/>
          </a:prstGeom>
          <a:noFill/>
          <a:ln/>
        </p:spPr>
        <p:txBody>
          <a:bodyPr wrap="square" lIns="0" tIns="0" rIns="0" bIns="0" rtlCol="0" anchor="t"/>
          <a:lstStyle/>
          <a:p>
            <a:pPr indent="0" marL="0">
              <a:buNone/>
            </a:pPr>
            <a:r>
              <a:rPr lang="en-US" sz="1400" dirty="0">
                <a:solidFill>
                  <a:schemeClr val="tx1"/>
                </a:solidFill>
              </a:rPr>
              <a:t>Occupations stay segregated (e.g. nursing vs. engineering). Women do more unpaid care work; men may face stigma taking parental leave.</a:t>
            </a:r>
            <a:endParaRPr lang="en-US" sz="1400" dirty="0"/>
          </a:p>
        </p:txBody>
      </p:sp>
      <p:sp>
        <p:nvSpPr>
          <p:cNvPr id="8" name="Shape 5"/>
          <p:cNvSpPr/>
          <p:nvPr/>
        </p:nvSpPr>
        <p:spPr>
          <a:xfrm>
            <a:off x="6217920" y="1417320"/>
            <a:ext cx="539496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Shape 6"/>
          <p:cNvSpPr/>
          <p:nvPr/>
        </p:nvSpPr>
        <p:spPr>
          <a:xfrm>
            <a:off x="6492240" y="1691640"/>
            <a:ext cx="777240" cy="77724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6686550" y="1885950"/>
            <a:ext cx="388620" cy="388620"/>
          </a:xfrm>
          <a:prstGeom prst="rect">
            <a:avLst/>
          </a:prstGeom>
        </p:spPr>
      </p:pic>
      <p:sp>
        <p:nvSpPr>
          <p:cNvPr id="11" name="Text 7"/>
          <p:cNvSpPr txBox="1"/>
          <p:nvPr/>
        </p:nvSpPr>
        <p:spPr>
          <a:xfrm>
            <a:off x="7498080" y="169164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Education</a:t>
            </a:r>
            <a:endParaRPr lang="en-US" sz="2000" dirty="0"/>
          </a:p>
        </p:txBody>
      </p:sp>
      <p:sp>
        <p:nvSpPr>
          <p:cNvPr id="12" name="Text 8"/>
          <p:cNvSpPr txBox="1"/>
          <p:nvPr/>
        </p:nvSpPr>
        <p:spPr>
          <a:xfrm>
            <a:off x="7498080" y="2148840"/>
            <a:ext cx="3886200" cy="1463040"/>
          </a:xfrm>
          <a:prstGeom prst="rect">
            <a:avLst/>
          </a:prstGeom>
          <a:noFill/>
          <a:ln/>
        </p:spPr>
        <p:txBody>
          <a:bodyPr wrap="square" lIns="0" tIns="0" rIns="0" bIns="0" rtlCol="0" anchor="t"/>
          <a:lstStyle/>
          <a:p>
            <a:pPr indent="0" marL="0">
              <a:buNone/>
            </a:pPr>
            <a:r>
              <a:rPr lang="en-US" sz="1400" dirty="0">
                <a:solidFill>
                  <a:schemeClr val="tx1"/>
                </a:solidFill>
              </a:rPr>
              <a:t>In many countries girls now outperform boys in reading and graduate university at higher rates, while remaining under-represented in fields like computing.</a:t>
            </a:r>
            <a:endParaRPr lang="en-US" sz="1400" dirty="0"/>
          </a:p>
        </p:txBody>
      </p:sp>
      <p:sp>
        <p:nvSpPr>
          <p:cNvPr id="13" name="Shape 9"/>
          <p:cNvSpPr/>
          <p:nvPr/>
        </p:nvSpPr>
        <p:spPr>
          <a:xfrm>
            <a:off x="548640" y="3931920"/>
            <a:ext cx="539496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Shape 10"/>
          <p:cNvSpPr/>
          <p:nvPr/>
        </p:nvSpPr>
        <p:spPr>
          <a:xfrm>
            <a:off x="822960" y="4206240"/>
            <a:ext cx="777240" cy="777240"/>
          </a:xfrm>
          <a:prstGeom prst="ellipse">
            <a:avLst/>
          </a:prstGeom>
          <a:solidFill>
            <a:schemeClr val="accent4"/>
          </a:solidFill>
          <a:ln w="12700">
            <a:solidFill>
              <a:schemeClr val="accent4"/>
            </a:solidFill>
            <a:prstDash val="solid"/>
          </a:ln>
        </p:spPr>
      </p:sp>
      <p:pic>
        <p:nvPicPr>
          <p:cNvPr id="15" name="Image 2" descr="preencoded.png">    </p:cNvPr>
          <p:cNvPicPr>
            <a:picLocks noChangeAspect="1"/>
          </p:cNvPicPr>
          <p:nvPr/>
        </p:nvPicPr>
        <p:blipFill>
          <a:blip r:embed="rId3"/>
          <a:stretch>
            <a:fillRect/>
          </a:stretch>
        </p:blipFill>
        <p:spPr>
          <a:xfrm>
            <a:off x="1017270" y="4400550"/>
            <a:ext cx="388620" cy="388620"/>
          </a:xfrm>
          <a:prstGeom prst="rect">
            <a:avLst/>
          </a:prstGeom>
        </p:spPr>
      </p:pic>
      <p:sp>
        <p:nvSpPr>
          <p:cNvPr id="16" name="Text 11"/>
          <p:cNvSpPr txBox="1"/>
          <p:nvPr/>
        </p:nvSpPr>
        <p:spPr>
          <a:xfrm>
            <a:off x="1828800" y="420624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Health</a:t>
            </a:r>
            <a:endParaRPr lang="en-US" sz="2000" dirty="0"/>
          </a:p>
        </p:txBody>
      </p:sp>
      <p:sp>
        <p:nvSpPr>
          <p:cNvPr id="17" name="Text 12"/>
          <p:cNvSpPr txBox="1"/>
          <p:nvPr/>
        </p:nvSpPr>
        <p:spPr>
          <a:xfrm>
            <a:off x="1828800" y="4663440"/>
            <a:ext cx="3886200" cy="1463040"/>
          </a:xfrm>
          <a:prstGeom prst="rect">
            <a:avLst/>
          </a:prstGeom>
          <a:noFill/>
          <a:ln/>
        </p:spPr>
        <p:txBody>
          <a:bodyPr wrap="square" lIns="0" tIns="0" rIns="0" bIns="0" rtlCol="0" anchor="t"/>
          <a:lstStyle/>
          <a:p>
            <a:pPr indent="0" marL="0">
              <a:buNone/>
            </a:pPr>
            <a:r>
              <a:rPr lang="en-US" sz="1400" dirty="0">
                <a:solidFill>
                  <a:schemeClr val="tx1"/>
                </a:solidFill>
              </a:rPr>
              <a:t>Men are less likely to seek medical or mental-health help; in the US men die by suicide about four times as often as women (CDC). Women report higher rates of depression and anxiety.</a:t>
            </a:r>
            <a:endParaRPr lang="en-US" sz="1400" dirty="0"/>
          </a:p>
        </p:txBody>
      </p:sp>
      <p:sp>
        <p:nvSpPr>
          <p:cNvPr id="18" name="Shape 13"/>
          <p:cNvSpPr/>
          <p:nvPr/>
        </p:nvSpPr>
        <p:spPr>
          <a:xfrm>
            <a:off x="6217920" y="3931920"/>
            <a:ext cx="5394960" cy="2286000"/>
          </a:xfrm>
          <a:prstGeom prst="roundRect">
            <a:avLst>
              <a:gd name="adj" fmla="val 48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Shape 14"/>
          <p:cNvSpPr/>
          <p:nvPr/>
        </p:nvSpPr>
        <p:spPr>
          <a:xfrm>
            <a:off x="6492240" y="4206240"/>
            <a:ext cx="777240" cy="777240"/>
          </a:xfrm>
          <a:prstGeom prst="ellipse">
            <a:avLst/>
          </a:prstGeom>
          <a:solidFill>
            <a:schemeClr val="accent6"/>
          </a:solidFill>
          <a:ln w="12700">
            <a:solidFill>
              <a:schemeClr val="accent6"/>
            </a:solidFill>
            <a:prstDash val="solid"/>
          </a:ln>
        </p:spPr>
      </p:sp>
      <p:pic>
        <p:nvPicPr>
          <p:cNvPr id="20" name="Image 3" descr="preencoded.png">    </p:cNvPr>
          <p:cNvPicPr>
            <a:picLocks noChangeAspect="1"/>
          </p:cNvPicPr>
          <p:nvPr/>
        </p:nvPicPr>
        <p:blipFill>
          <a:blip r:embed="rId4"/>
          <a:stretch>
            <a:fillRect/>
          </a:stretch>
        </p:blipFill>
        <p:spPr>
          <a:xfrm>
            <a:off x="6686550" y="4400550"/>
            <a:ext cx="388620" cy="388620"/>
          </a:xfrm>
          <a:prstGeom prst="rect">
            <a:avLst/>
          </a:prstGeom>
        </p:spPr>
      </p:pic>
      <p:sp>
        <p:nvSpPr>
          <p:cNvPr id="21" name="Text 15"/>
          <p:cNvSpPr txBox="1"/>
          <p:nvPr/>
        </p:nvSpPr>
        <p:spPr>
          <a:xfrm>
            <a:off x="7498080" y="420624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Relationships</a:t>
            </a:r>
            <a:endParaRPr lang="en-US" sz="2000" dirty="0"/>
          </a:p>
        </p:txBody>
      </p:sp>
      <p:sp>
        <p:nvSpPr>
          <p:cNvPr id="22" name="Text 16"/>
          <p:cNvSpPr txBox="1"/>
          <p:nvPr/>
        </p:nvSpPr>
        <p:spPr>
          <a:xfrm>
            <a:off x="7498080" y="4663440"/>
            <a:ext cx="3886200" cy="1463040"/>
          </a:xfrm>
          <a:prstGeom prst="rect">
            <a:avLst/>
          </a:prstGeom>
          <a:noFill/>
          <a:ln/>
        </p:spPr>
        <p:txBody>
          <a:bodyPr wrap="square" lIns="0" tIns="0" rIns="0" bIns="0" rtlCol="0" anchor="t"/>
          <a:lstStyle/>
          <a:p>
            <a:pPr indent="0" marL="0">
              <a:buNone/>
            </a:pPr>
            <a:r>
              <a:rPr lang="en-US" sz="1400" dirty="0">
                <a:solidFill>
                  <a:schemeClr val="tx1"/>
                </a:solidFill>
              </a:rPr>
              <a:t>Strict scripts can limit how partners share chores, money, and emotions. Research links more equal sharing with higher satisfaction for many couples, though results vary.</a:t>
            </a:r>
            <a:endParaRPr lang="en-US" sz="14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600" b="1" dirty="0">
                <a:solidFill>
                  <a:schemeClr val="tx2"/>
                </a:solidFill>
              </a:rPr>
              <a:t>Changing attitudes and laws, and ongoing debate</a:t>
            </a:r>
            <a:endParaRPr lang="en-US" sz="3600" dirty="0"/>
          </a:p>
        </p:txBody>
      </p:sp>
      <p:sp>
        <p:nvSpPr>
          <p:cNvPr id="3" name="Shape 1"/>
          <p:cNvSpPr/>
          <p:nvPr/>
        </p:nvSpPr>
        <p:spPr>
          <a:xfrm>
            <a:off x="548640" y="1463040"/>
            <a:ext cx="731520" cy="73152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731520" y="1645920"/>
            <a:ext cx="365760" cy="365760"/>
          </a:xfrm>
          <a:prstGeom prst="rect">
            <a:avLst/>
          </a:prstGeom>
        </p:spPr>
      </p:pic>
      <p:sp>
        <p:nvSpPr>
          <p:cNvPr id="5" name="Text 2"/>
          <p:cNvSpPr txBox="1"/>
          <p:nvPr/>
        </p:nvSpPr>
        <p:spPr>
          <a:xfrm>
            <a:off x="1463040" y="1600200"/>
            <a:ext cx="457200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What has changed (established)</a:t>
            </a:r>
            <a:endParaRPr lang="en-US" sz="2000" dirty="0"/>
          </a:p>
        </p:txBody>
      </p:sp>
      <p:sp>
        <p:nvSpPr>
          <p:cNvPr id="6" name="Text 3"/>
          <p:cNvSpPr txBox="1"/>
          <p:nvPr/>
        </p:nvSpPr>
        <p:spPr>
          <a:xfrm>
            <a:off x="548640" y="2377440"/>
            <a:ext cx="5577840" cy="3931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Equal-pay and anti-discrimination laws in most countries</a:t>
            </a:r>
            <a:endParaRPr lang="en-US" sz="1500" dirty="0"/>
          </a:p>
          <a:p>
            <a:pPr marL="342900" indent="-342900">
              <a:spcAft>
                <a:spcPts val="800"/>
              </a:spcAft>
              <a:buSzPct val="100000"/>
              <a:buChar char="•"/>
            </a:pPr>
            <a:r>
              <a:rPr lang="en-US" sz="1500" dirty="0">
                <a:solidFill>
                  <a:schemeClr val="tx1"/>
                </a:solidFill>
              </a:rPr>
              <a:t>Paid parental leave, including leave reserved for fathers in places like Sweden and Norway</a:t>
            </a:r>
            <a:endParaRPr lang="en-US" sz="1500" dirty="0"/>
          </a:p>
          <a:p>
            <a:pPr marL="342900" indent="-342900">
              <a:spcAft>
                <a:spcPts val="800"/>
              </a:spcAft>
              <a:buSzPct val="100000"/>
              <a:buChar char="•"/>
            </a:pPr>
            <a:r>
              <a:rPr lang="en-US" sz="1500" dirty="0">
                <a:solidFill>
                  <a:schemeClr val="tx1"/>
                </a:solidFill>
              </a:rPr>
              <a:t>Surveys (e.g. Pew, World Values Survey) show wider support for shared roles, especially among younger people</a:t>
            </a:r>
            <a:endParaRPr lang="en-US" sz="1500" dirty="0"/>
          </a:p>
          <a:p>
            <a:pPr marL="342900" indent="-342900">
              <a:spcAft>
                <a:spcPts val="800"/>
              </a:spcAft>
              <a:buSzPct val="100000"/>
              <a:buChar char="•"/>
            </a:pPr>
            <a:r>
              <a:rPr lang="en-US" sz="1500" dirty="0">
                <a:solidFill>
                  <a:schemeClr val="tx1"/>
                </a:solidFill>
              </a:rPr>
              <a:t>Women now hold a growing share of parliamentary seats worldwide (about 27%, IPU)</a:t>
            </a:r>
            <a:endParaRPr lang="en-US" sz="1500" dirty="0"/>
          </a:p>
        </p:txBody>
      </p:sp>
      <p:sp>
        <p:nvSpPr>
          <p:cNvPr id="7" name="Shape 4"/>
          <p:cNvSpPr/>
          <p:nvPr/>
        </p:nvSpPr>
        <p:spPr>
          <a:xfrm>
            <a:off x="6400800" y="1371600"/>
            <a:ext cx="5212080" cy="4937760"/>
          </a:xfrm>
          <a:prstGeom prst="roundRect">
            <a:avLst>
              <a:gd name="adj" fmla="val 2222"/>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8" name="Shape 5"/>
          <p:cNvSpPr/>
          <p:nvPr/>
        </p:nvSpPr>
        <p:spPr>
          <a:xfrm>
            <a:off x="6675120" y="1645920"/>
            <a:ext cx="731520" cy="73152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858000" y="1828800"/>
            <a:ext cx="365760" cy="365760"/>
          </a:xfrm>
          <a:prstGeom prst="rect">
            <a:avLst/>
          </a:prstGeom>
        </p:spPr>
      </p:pic>
      <p:sp>
        <p:nvSpPr>
          <p:cNvPr id="10" name="Text 6"/>
          <p:cNvSpPr txBox="1"/>
          <p:nvPr/>
        </p:nvSpPr>
        <p:spPr>
          <a:xfrm>
            <a:off x="7589520" y="1783080"/>
            <a:ext cx="384048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Where debate continues</a:t>
            </a:r>
            <a:endParaRPr lang="en-US" sz="2000" dirty="0"/>
          </a:p>
        </p:txBody>
      </p:sp>
      <p:sp>
        <p:nvSpPr>
          <p:cNvPr id="11" name="Text 7"/>
          <p:cNvSpPr txBox="1"/>
          <p:nvPr/>
        </p:nvSpPr>
        <p:spPr>
          <a:xfrm>
            <a:off x="6675120" y="2606040"/>
            <a:ext cx="466344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How much of the remaining pay gap reflects discrimination versus choices and constraints</a:t>
            </a:r>
            <a:endParaRPr lang="en-US" sz="1500" dirty="0"/>
          </a:p>
          <a:p>
            <a:pPr marL="342900" indent="-342900">
              <a:spcAft>
                <a:spcPts val="800"/>
              </a:spcAft>
              <a:buSzPct val="100000"/>
              <a:buChar char="•"/>
            </a:pPr>
            <a:r>
              <a:rPr lang="en-US" sz="1500" dirty="0">
                <a:solidFill>
                  <a:schemeClr val="bg1"/>
                </a:solidFill>
              </a:rPr>
              <a:t>The balance of biological and social causes of average differences</a:t>
            </a:r>
            <a:endParaRPr lang="en-US" sz="1500" dirty="0"/>
          </a:p>
          <a:p>
            <a:pPr marL="342900" indent="-342900">
              <a:spcAft>
                <a:spcPts val="800"/>
              </a:spcAft>
              <a:buSzPct val="100000"/>
              <a:buChar char="•"/>
            </a:pPr>
            <a:r>
              <a:rPr lang="en-US" sz="1500" dirty="0">
                <a:solidFill>
                  <a:schemeClr val="bg1"/>
                </a:solidFill>
              </a:rPr>
              <a:t>Policies on gender identity in schools, sport, and law</a:t>
            </a:r>
            <a:endParaRPr lang="en-US" sz="1500" dirty="0"/>
          </a:p>
          <a:p>
            <a:pPr marL="342900" indent="-342900">
              <a:spcAft>
                <a:spcPts val="800"/>
              </a:spcAft>
              <a:buSzPct val="100000"/>
              <a:buChar char="•"/>
            </a:pPr>
            <a:r>
              <a:rPr lang="en-US" sz="1500" dirty="0">
                <a:solidFill>
                  <a:schemeClr val="bg1"/>
                </a:solidFill>
              </a:rPr>
              <a:t>Whether traditional roles should be protected, adapted, or set aside: views differ by culture, religion, and politics</a:t>
            </a:r>
            <a:endParaRPr lang="en-US" sz="15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548640"/>
            <a:ext cx="1005840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Key takeaways</a:t>
            </a:r>
            <a:endParaRPr lang="en-US" sz="4000" dirty="0"/>
          </a:p>
        </p:txBody>
      </p:sp>
      <p:sp>
        <p:nvSpPr>
          <p:cNvPr id="3" name="Shape 1"/>
          <p:cNvSpPr/>
          <p:nvPr/>
        </p:nvSpPr>
        <p:spPr>
          <a:xfrm>
            <a:off x="822960" y="1600200"/>
            <a:ext cx="685800" cy="68580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994410" y="1771650"/>
            <a:ext cx="342900" cy="342900"/>
          </a:xfrm>
          <a:prstGeom prst="rect">
            <a:avLst/>
          </a:prstGeom>
        </p:spPr>
      </p:pic>
      <p:sp>
        <p:nvSpPr>
          <p:cNvPr id="5" name="Text 2"/>
          <p:cNvSpPr txBox="1"/>
          <p:nvPr/>
        </p:nvSpPr>
        <p:spPr>
          <a:xfrm>
            <a:off x="1783080" y="1755648"/>
            <a:ext cx="9601200" cy="457200"/>
          </a:xfrm>
          <a:prstGeom prst="rect">
            <a:avLst/>
          </a:prstGeom>
          <a:noFill/>
          <a:ln/>
        </p:spPr>
        <p:txBody>
          <a:bodyPr wrap="square" lIns="0" tIns="0" rIns="0" bIns="0" rtlCol="0" anchor="t"/>
          <a:lstStyle/>
          <a:p>
            <a:pPr indent="0" marL="0">
              <a:buNone/>
            </a:pPr>
            <a:r>
              <a:rPr lang="en-US" sz="2000" dirty="0">
                <a:solidFill>
                  <a:schemeClr val="bg1"/>
                </a:solidFill>
              </a:rPr>
              <a:t>Sex is largely biological; gender roles are social and learned.</a:t>
            </a:r>
            <a:endParaRPr lang="en-US" sz="2000" dirty="0"/>
          </a:p>
        </p:txBody>
      </p:sp>
      <p:sp>
        <p:nvSpPr>
          <p:cNvPr id="6" name="Shape 3"/>
          <p:cNvSpPr/>
          <p:nvPr/>
        </p:nvSpPr>
        <p:spPr>
          <a:xfrm>
            <a:off x="822960" y="2560320"/>
            <a:ext cx="685800" cy="685800"/>
          </a:xfrm>
          <a:prstGeom prst="ellipse">
            <a:avLst/>
          </a:prstGeom>
          <a:solidFill>
            <a:schemeClr val="accent2"/>
          </a:solidFill>
          <a:ln w="12700">
            <a:solidFill>
              <a:schemeClr val="accent2"/>
            </a:solidFill>
            <a:prstDash val="solid"/>
          </a:ln>
        </p:spPr>
      </p:sp>
      <p:pic>
        <p:nvPicPr>
          <p:cNvPr id="7" name="Image 1" descr="preencoded.png">    </p:cNvPr>
          <p:cNvPicPr>
            <a:picLocks noChangeAspect="1"/>
          </p:cNvPicPr>
          <p:nvPr/>
        </p:nvPicPr>
        <p:blipFill>
          <a:blip r:embed="rId2"/>
          <a:stretch>
            <a:fillRect/>
          </a:stretch>
        </p:blipFill>
        <p:spPr>
          <a:xfrm>
            <a:off x="994410" y="2731770"/>
            <a:ext cx="342900" cy="342900"/>
          </a:xfrm>
          <a:prstGeom prst="rect">
            <a:avLst/>
          </a:prstGeom>
        </p:spPr>
      </p:pic>
      <p:sp>
        <p:nvSpPr>
          <p:cNvPr id="8" name="Text 4"/>
          <p:cNvSpPr txBox="1"/>
          <p:nvPr/>
        </p:nvSpPr>
        <p:spPr>
          <a:xfrm>
            <a:off x="1783080" y="2715768"/>
            <a:ext cx="9601200" cy="457200"/>
          </a:xfrm>
          <a:prstGeom prst="rect">
            <a:avLst/>
          </a:prstGeom>
          <a:noFill/>
          <a:ln/>
        </p:spPr>
        <p:txBody>
          <a:bodyPr wrap="square" lIns="0" tIns="0" rIns="0" bIns="0" rtlCol="0" anchor="t"/>
          <a:lstStyle/>
          <a:p>
            <a:pPr indent="0" marL="0">
              <a:buNone/>
            </a:pPr>
            <a:r>
              <a:rPr lang="en-US" sz="2000" dirty="0">
                <a:solidFill>
                  <a:schemeClr val="bg1"/>
                </a:solidFill>
              </a:rPr>
              <a:t>Roles have changed many times across history and cultures.</a:t>
            </a:r>
            <a:endParaRPr lang="en-US" sz="2000" dirty="0"/>
          </a:p>
        </p:txBody>
      </p:sp>
      <p:sp>
        <p:nvSpPr>
          <p:cNvPr id="9" name="Shape 5"/>
          <p:cNvSpPr/>
          <p:nvPr/>
        </p:nvSpPr>
        <p:spPr>
          <a:xfrm>
            <a:off x="822960" y="3520440"/>
            <a:ext cx="685800" cy="685800"/>
          </a:xfrm>
          <a:prstGeom prst="ellipse">
            <a:avLst/>
          </a:prstGeom>
          <a:solidFill>
            <a:schemeClr val="accent3"/>
          </a:solidFill>
          <a:ln w="12700">
            <a:solidFill>
              <a:schemeClr val="accent3"/>
            </a:solidFill>
            <a:prstDash val="solid"/>
          </a:ln>
        </p:spPr>
      </p:sp>
      <p:pic>
        <p:nvPicPr>
          <p:cNvPr id="10" name="Image 2" descr="preencoded.png">    </p:cNvPr>
          <p:cNvPicPr>
            <a:picLocks noChangeAspect="1"/>
          </p:cNvPicPr>
          <p:nvPr/>
        </p:nvPicPr>
        <p:blipFill>
          <a:blip r:embed="rId3"/>
          <a:stretch>
            <a:fillRect/>
          </a:stretch>
        </p:blipFill>
        <p:spPr>
          <a:xfrm>
            <a:off x="994410" y="3691890"/>
            <a:ext cx="342900" cy="342900"/>
          </a:xfrm>
          <a:prstGeom prst="rect">
            <a:avLst/>
          </a:prstGeom>
        </p:spPr>
      </p:pic>
      <p:sp>
        <p:nvSpPr>
          <p:cNvPr id="11" name="Text 6"/>
          <p:cNvSpPr txBox="1"/>
          <p:nvPr/>
        </p:nvSpPr>
        <p:spPr>
          <a:xfrm>
            <a:off x="1783080" y="3675888"/>
            <a:ext cx="9601200" cy="457200"/>
          </a:xfrm>
          <a:prstGeom prst="rect">
            <a:avLst/>
          </a:prstGeom>
          <a:noFill/>
          <a:ln/>
        </p:spPr>
        <p:txBody>
          <a:bodyPr wrap="square" lIns="0" tIns="0" rIns="0" bIns="0" rtlCol="0" anchor="t"/>
          <a:lstStyle/>
          <a:p>
            <a:pPr indent="0" marL="0">
              <a:buNone/>
            </a:pPr>
            <a:r>
              <a:rPr lang="en-US" sz="2000" dirty="0">
                <a:solidFill>
                  <a:schemeClr val="bg1"/>
                </a:solidFill>
              </a:rPr>
              <a:t>Family, school, media, peers, and religion all teach expectations.</a:t>
            </a:r>
            <a:endParaRPr lang="en-US" sz="2000" dirty="0"/>
          </a:p>
        </p:txBody>
      </p:sp>
      <p:sp>
        <p:nvSpPr>
          <p:cNvPr id="12" name="Shape 7"/>
          <p:cNvSpPr/>
          <p:nvPr/>
        </p:nvSpPr>
        <p:spPr>
          <a:xfrm>
            <a:off x="822960" y="4480560"/>
            <a:ext cx="685800" cy="685800"/>
          </a:xfrm>
          <a:prstGeom prst="ellipse">
            <a:avLst/>
          </a:prstGeom>
          <a:solidFill>
            <a:schemeClr val="accent5"/>
          </a:solidFill>
          <a:ln w="12700">
            <a:solidFill>
              <a:schemeClr val="accent5"/>
            </a:solidFill>
            <a:prstDash val="solid"/>
          </a:ln>
        </p:spPr>
      </p:sp>
      <p:pic>
        <p:nvPicPr>
          <p:cNvPr id="13" name="Image 3" descr="preencoded.png">    </p:cNvPr>
          <p:cNvPicPr>
            <a:picLocks noChangeAspect="1"/>
          </p:cNvPicPr>
          <p:nvPr/>
        </p:nvPicPr>
        <p:blipFill>
          <a:blip r:embed="rId4"/>
          <a:stretch>
            <a:fillRect/>
          </a:stretch>
        </p:blipFill>
        <p:spPr>
          <a:xfrm>
            <a:off x="994410" y="4652010"/>
            <a:ext cx="342900" cy="342900"/>
          </a:xfrm>
          <a:prstGeom prst="rect">
            <a:avLst/>
          </a:prstGeom>
        </p:spPr>
      </p:pic>
      <p:sp>
        <p:nvSpPr>
          <p:cNvPr id="14" name="Text 8"/>
          <p:cNvSpPr txBox="1"/>
          <p:nvPr/>
        </p:nvSpPr>
        <p:spPr>
          <a:xfrm>
            <a:off x="1783080" y="4636008"/>
            <a:ext cx="9601200" cy="457200"/>
          </a:xfrm>
          <a:prstGeom prst="rect">
            <a:avLst/>
          </a:prstGeom>
          <a:noFill/>
          <a:ln/>
        </p:spPr>
        <p:txBody>
          <a:bodyPr wrap="square" lIns="0" tIns="0" rIns="0" bIns="0" rtlCol="0" anchor="t"/>
          <a:lstStyle/>
          <a:p>
            <a:pPr indent="0" marL="0">
              <a:buNone/>
            </a:pPr>
            <a:r>
              <a:rPr lang="en-US" sz="2000" dirty="0">
                <a:solidFill>
                  <a:schemeClr val="bg1"/>
                </a:solidFill>
              </a:rPr>
              <a:t>Rigid expectations can limit both men and women in work, health, and relationships.</a:t>
            </a:r>
            <a:endParaRPr lang="en-US" sz="2000" dirty="0"/>
          </a:p>
        </p:txBody>
      </p:sp>
      <p:sp>
        <p:nvSpPr>
          <p:cNvPr id="15" name="Shape 9"/>
          <p:cNvSpPr/>
          <p:nvPr/>
        </p:nvSpPr>
        <p:spPr>
          <a:xfrm>
            <a:off x="822960" y="5440680"/>
            <a:ext cx="685800" cy="685800"/>
          </a:xfrm>
          <a:prstGeom prst="ellipse">
            <a:avLst/>
          </a:prstGeom>
          <a:solidFill>
            <a:schemeClr val="accent4"/>
          </a:solidFill>
          <a:ln w="12700">
            <a:solidFill>
              <a:schemeClr val="accent4"/>
            </a:solidFill>
            <a:prstDash val="solid"/>
          </a:ln>
        </p:spPr>
      </p:sp>
      <p:pic>
        <p:nvPicPr>
          <p:cNvPr id="16" name="Image 4" descr="preencoded.png">    </p:cNvPr>
          <p:cNvPicPr>
            <a:picLocks noChangeAspect="1"/>
          </p:cNvPicPr>
          <p:nvPr/>
        </p:nvPicPr>
        <p:blipFill>
          <a:blip r:embed="rId5"/>
          <a:stretch>
            <a:fillRect/>
          </a:stretch>
        </p:blipFill>
        <p:spPr>
          <a:xfrm>
            <a:off x="994410" y="5612130"/>
            <a:ext cx="342900" cy="342900"/>
          </a:xfrm>
          <a:prstGeom prst="rect">
            <a:avLst/>
          </a:prstGeom>
        </p:spPr>
      </p:pic>
      <p:sp>
        <p:nvSpPr>
          <p:cNvPr id="17" name="Text 10"/>
          <p:cNvSpPr txBox="1"/>
          <p:nvPr/>
        </p:nvSpPr>
        <p:spPr>
          <a:xfrm>
            <a:off x="1783080" y="5596128"/>
            <a:ext cx="9601200" cy="457200"/>
          </a:xfrm>
          <a:prstGeom prst="rect">
            <a:avLst/>
          </a:prstGeom>
          <a:noFill/>
          <a:ln/>
        </p:spPr>
        <p:txBody>
          <a:bodyPr wrap="square" lIns="0" tIns="0" rIns="0" bIns="0" rtlCol="0" anchor="t"/>
          <a:lstStyle/>
          <a:p>
            <a:pPr indent="0" marL="0">
              <a:buNone/>
            </a:pPr>
            <a:r>
              <a:rPr lang="en-US" sz="2000" dirty="0">
                <a:solidFill>
                  <a:schemeClr val="bg1"/>
                </a:solidFill>
              </a:rPr>
              <a:t>Laws and attitudes are shifting, but real debates remain.</a:t>
            </a:r>
            <a:endParaRPr lang="en-US" sz="2000" dirty="0"/>
          </a:p>
        </p:txBody>
      </p:sp>
      <p:sp>
        <p:nvSpPr>
          <p:cNvPr id="18" name="Text 0"/>
          <p:cNvSpPr/>
          <p:nvPr>
            <p:ph idx="100" type="title" hasCustomPrompt="1"/>
          </p:nvPr>
        </p:nvSpPr>
        <p:spPr>
          <a:xfrm>
            <a:off x="731520" y="2103120"/>
            <a:ext cx="10698480" cy="1463040"/>
          </a:xfrm>
          <a:prstGeom prst="rect">
            <a:avLst/>
          </a:prstGeom>
          <a:noFill/>
          <a:ln/>
        </p:spPr>
        <p:txBody>
          <a:bodyPr wrap="square" rtlCol="0"/>
          <a:lstStyle/>
          <a:p>
            <a:pPr indent="0" marL="0">
              <a:buNone/>
            </a:pPr>
            <a:endParaRPr lang="en-US" sz="4800" dirty="0"/>
          </a:p>
        </p:txBody>
      </p:sp>
      <p:sp>
        <p:nvSpPr>
          <p:cNvPr id="19" name="Text 0"/>
          <p:cNvSpPr/>
          <p:nvPr>
            <p:ph idx="101" type="body" hasCustomPrompt="1"/>
          </p:nvPr>
        </p:nvSpPr>
        <p:spPr>
          <a:xfrm>
            <a:off x="731520" y="3657600"/>
            <a:ext cx="10698480" cy="1097280"/>
          </a:xfrm>
          <a:prstGeom prst="rect">
            <a:avLst/>
          </a:prstGeom>
          <a:noFill/>
          <a:ln/>
        </p:spPr>
        <p:txBody>
          <a:bodyPr wrap="square" rtlCol="0"/>
          <a:lstStyle/>
          <a:p>
            <a:pPr indent="0" marL="0">
              <a:buNone/>
            </a:pP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600" b="1" dirty="0">
                <a:solidFill>
                  <a:schemeClr val="tx2"/>
                </a:solidFill>
              </a:rPr>
              <a:t>Explore further</a:t>
            </a:r>
            <a:endParaRPr lang="en-US" sz="3600" dirty="0"/>
          </a:p>
        </p:txBody>
      </p:sp>
      <p:sp>
        <p:nvSpPr>
          <p:cNvPr id="3" name="Shape 1"/>
          <p:cNvSpPr/>
          <p:nvPr/>
        </p:nvSpPr>
        <p:spPr>
          <a:xfrm>
            <a:off x="548640" y="1417320"/>
            <a:ext cx="1106424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Shape 2"/>
          <p:cNvSpPr/>
          <p:nvPr/>
        </p:nvSpPr>
        <p:spPr>
          <a:xfrm>
            <a:off x="731520" y="150876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91540" y="1668780"/>
            <a:ext cx="320040" cy="320040"/>
          </a:xfrm>
          <a:prstGeom prst="rect">
            <a:avLst/>
          </a:prstGeom>
        </p:spPr>
      </p:pic>
      <p:sp>
        <p:nvSpPr>
          <p:cNvPr id="6" name="Text 3"/>
          <p:cNvSpPr txBox="1"/>
          <p:nvPr/>
        </p:nvSpPr>
        <p:spPr>
          <a:xfrm>
            <a:off x="1600200" y="1618488"/>
            <a:ext cx="5760720" cy="457200"/>
          </a:xfrm>
          <a:prstGeom prst="rect">
            <a:avLst/>
          </a:prstGeom>
          <a:noFill/>
          <a:ln/>
        </p:spPr>
        <p:txBody>
          <a:bodyPr wrap="square" lIns="0" tIns="0" rIns="0" bIns="0" rtlCol="0" anchor="t"/>
          <a:lstStyle/>
          <a:p>
            <a:pPr indent="0" marL="0">
              <a:buNone/>
            </a:pPr>
            <a:r>
              <a:rPr lang="en-US" sz="1800" b="1" dirty="0">
                <a:solidFill>
                  <a:schemeClr val="tx2"/>
                </a:solidFill>
              </a:rPr>
              <a:t>UN Women: Progress of the World's Women</a:t>
            </a:r>
            <a:endParaRPr lang="en-US" sz="1800" dirty="0"/>
          </a:p>
        </p:txBody>
      </p:sp>
      <p:sp>
        <p:nvSpPr>
          <p:cNvPr id="7" name="Text 4"/>
          <p:cNvSpPr txBox="1"/>
          <p:nvPr/>
        </p:nvSpPr>
        <p:spPr>
          <a:xfrm>
            <a:off x="7315200" y="1645920"/>
            <a:ext cx="4114800" cy="457200"/>
          </a:xfrm>
          <a:prstGeom prst="rect">
            <a:avLst/>
          </a:prstGeom>
          <a:noFill/>
          <a:ln/>
        </p:spPr>
        <p:txBody>
          <a:bodyPr wrap="square" lIns="0" tIns="0" rIns="0" bIns="0" rtlCol="0" anchor="t"/>
          <a:lstStyle/>
          <a:p>
            <a:pPr indent="0" marL="0">
              <a:buNone/>
            </a:pPr>
            <a:r>
              <a:rPr lang="en-US" sz="1400" dirty="0">
                <a:solidFill>
                  <a:schemeClr val="accent4"/>
                </a:solidFill>
              </a:rPr>
              <a:t>Global data on work, law, and family</a:t>
            </a:r>
            <a:endParaRPr lang="en-US" sz="1400" dirty="0"/>
          </a:p>
        </p:txBody>
      </p:sp>
      <p:sp>
        <p:nvSpPr>
          <p:cNvPr id="8" name="Shape 5"/>
          <p:cNvSpPr/>
          <p:nvPr/>
        </p:nvSpPr>
        <p:spPr>
          <a:xfrm>
            <a:off x="548640" y="2423160"/>
            <a:ext cx="1106424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Shape 6"/>
          <p:cNvSpPr/>
          <p:nvPr/>
        </p:nvSpPr>
        <p:spPr>
          <a:xfrm>
            <a:off x="731520" y="2514600"/>
            <a:ext cx="640080" cy="64008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891540" y="2674620"/>
            <a:ext cx="320040" cy="320040"/>
          </a:xfrm>
          <a:prstGeom prst="rect">
            <a:avLst/>
          </a:prstGeom>
        </p:spPr>
      </p:pic>
      <p:sp>
        <p:nvSpPr>
          <p:cNvPr id="11" name="Text 7"/>
          <p:cNvSpPr txBox="1"/>
          <p:nvPr/>
        </p:nvSpPr>
        <p:spPr>
          <a:xfrm>
            <a:off x="1600200" y="2624328"/>
            <a:ext cx="5760720" cy="457200"/>
          </a:xfrm>
          <a:prstGeom prst="rect">
            <a:avLst/>
          </a:prstGeom>
          <a:noFill/>
          <a:ln/>
        </p:spPr>
        <p:txBody>
          <a:bodyPr wrap="square" lIns="0" tIns="0" rIns="0" bIns="0" rtlCol="0" anchor="t"/>
          <a:lstStyle/>
          <a:p>
            <a:pPr indent="0" marL="0">
              <a:buNone/>
            </a:pPr>
            <a:r>
              <a:rPr lang="en-US" sz="1800" b="1" dirty="0">
                <a:solidFill>
                  <a:schemeClr val="tx2"/>
                </a:solidFill>
              </a:rPr>
              <a:t>World Economic Forum: Global Gender Gap Report</a:t>
            </a:r>
            <a:endParaRPr lang="en-US" sz="1800" dirty="0"/>
          </a:p>
        </p:txBody>
      </p:sp>
      <p:sp>
        <p:nvSpPr>
          <p:cNvPr id="12" name="Text 8"/>
          <p:cNvSpPr txBox="1"/>
          <p:nvPr/>
        </p:nvSpPr>
        <p:spPr>
          <a:xfrm>
            <a:off x="7315200" y="2651760"/>
            <a:ext cx="4114800" cy="457200"/>
          </a:xfrm>
          <a:prstGeom prst="rect">
            <a:avLst/>
          </a:prstGeom>
          <a:noFill/>
          <a:ln/>
        </p:spPr>
        <p:txBody>
          <a:bodyPr wrap="square" lIns="0" tIns="0" rIns="0" bIns="0" rtlCol="0" anchor="t"/>
          <a:lstStyle/>
          <a:p>
            <a:pPr indent="0" marL="0">
              <a:buNone/>
            </a:pPr>
            <a:r>
              <a:rPr lang="en-US" sz="1400" dirty="0">
                <a:solidFill>
                  <a:schemeClr val="accent4"/>
                </a:solidFill>
              </a:rPr>
              <a:t>Annual country rankings across four areas</a:t>
            </a:r>
            <a:endParaRPr lang="en-US" sz="1400" dirty="0"/>
          </a:p>
        </p:txBody>
      </p:sp>
      <p:sp>
        <p:nvSpPr>
          <p:cNvPr id="13" name="Shape 9"/>
          <p:cNvSpPr/>
          <p:nvPr/>
        </p:nvSpPr>
        <p:spPr>
          <a:xfrm>
            <a:off x="548640" y="3429000"/>
            <a:ext cx="1106424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Shape 10"/>
          <p:cNvSpPr/>
          <p:nvPr/>
        </p:nvSpPr>
        <p:spPr>
          <a:xfrm>
            <a:off x="731520" y="3520440"/>
            <a:ext cx="640080" cy="640080"/>
          </a:xfrm>
          <a:prstGeom prst="ellipse">
            <a:avLst/>
          </a:prstGeom>
          <a:solidFill>
            <a:schemeClr val="accent4"/>
          </a:solidFill>
          <a:ln w="12700">
            <a:solidFill>
              <a:schemeClr val="accent4"/>
            </a:solidFill>
            <a:prstDash val="solid"/>
          </a:ln>
        </p:spPr>
      </p:sp>
      <p:pic>
        <p:nvPicPr>
          <p:cNvPr id="15" name="Image 2" descr="preencoded.png">    </p:cNvPr>
          <p:cNvPicPr>
            <a:picLocks noChangeAspect="1"/>
          </p:cNvPicPr>
          <p:nvPr/>
        </p:nvPicPr>
        <p:blipFill>
          <a:blip r:embed="rId3"/>
          <a:stretch>
            <a:fillRect/>
          </a:stretch>
        </p:blipFill>
        <p:spPr>
          <a:xfrm>
            <a:off x="891540" y="3680460"/>
            <a:ext cx="320040" cy="320040"/>
          </a:xfrm>
          <a:prstGeom prst="rect">
            <a:avLst/>
          </a:prstGeom>
        </p:spPr>
      </p:pic>
      <p:sp>
        <p:nvSpPr>
          <p:cNvPr id="16" name="Text 11"/>
          <p:cNvSpPr txBox="1"/>
          <p:nvPr/>
        </p:nvSpPr>
        <p:spPr>
          <a:xfrm>
            <a:off x="1600200" y="3630168"/>
            <a:ext cx="5760720" cy="457200"/>
          </a:xfrm>
          <a:prstGeom prst="rect">
            <a:avLst/>
          </a:prstGeom>
          <a:noFill/>
          <a:ln/>
        </p:spPr>
        <p:txBody>
          <a:bodyPr wrap="square" lIns="0" tIns="0" rIns="0" bIns="0" rtlCol="0" anchor="t"/>
          <a:lstStyle/>
          <a:p>
            <a:pPr indent="0" marL="0">
              <a:buNone/>
            </a:pPr>
            <a:r>
              <a:rPr lang="en-US" sz="1800" b="1" dirty="0">
                <a:solidFill>
                  <a:schemeClr val="tx2"/>
                </a:solidFill>
              </a:rPr>
              <a:t>World Values Survey</a:t>
            </a:r>
            <a:endParaRPr lang="en-US" sz="1800" dirty="0"/>
          </a:p>
        </p:txBody>
      </p:sp>
      <p:sp>
        <p:nvSpPr>
          <p:cNvPr id="17" name="Text 12"/>
          <p:cNvSpPr txBox="1"/>
          <p:nvPr/>
        </p:nvSpPr>
        <p:spPr>
          <a:xfrm>
            <a:off x="7315200" y="3657600"/>
            <a:ext cx="4114800" cy="457200"/>
          </a:xfrm>
          <a:prstGeom prst="rect">
            <a:avLst/>
          </a:prstGeom>
          <a:noFill/>
          <a:ln/>
        </p:spPr>
        <p:txBody>
          <a:bodyPr wrap="square" lIns="0" tIns="0" rIns="0" bIns="0" rtlCol="0" anchor="t"/>
          <a:lstStyle/>
          <a:p>
            <a:pPr indent="0" marL="0">
              <a:buNone/>
            </a:pPr>
            <a:r>
              <a:rPr lang="en-US" sz="1400" dirty="0">
                <a:solidFill>
                  <a:schemeClr val="accent4"/>
                </a:solidFill>
              </a:rPr>
              <a:t>Search: "World Values Survey gender attitudes"</a:t>
            </a:r>
            <a:endParaRPr lang="en-US" sz="1400" dirty="0"/>
          </a:p>
        </p:txBody>
      </p:sp>
      <p:sp>
        <p:nvSpPr>
          <p:cNvPr id="18" name="Shape 13"/>
          <p:cNvSpPr/>
          <p:nvPr/>
        </p:nvSpPr>
        <p:spPr>
          <a:xfrm>
            <a:off x="548640" y="4434840"/>
            <a:ext cx="1106424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Shape 14"/>
          <p:cNvSpPr/>
          <p:nvPr/>
        </p:nvSpPr>
        <p:spPr>
          <a:xfrm>
            <a:off x="731520" y="4526280"/>
            <a:ext cx="640080" cy="640080"/>
          </a:xfrm>
          <a:prstGeom prst="ellipse">
            <a:avLst/>
          </a:prstGeom>
          <a:solidFill>
            <a:schemeClr val="accent6"/>
          </a:solidFill>
          <a:ln w="12700">
            <a:solidFill>
              <a:schemeClr val="accent6"/>
            </a:solidFill>
            <a:prstDash val="solid"/>
          </a:ln>
        </p:spPr>
      </p:sp>
      <p:pic>
        <p:nvPicPr>
          <p:cNvPr id="20" name="Image 3" descr="preencoded.png">    </p:cNvPr>
          <p:cNvPicPr>
            <a:picLocks noChangeAspect="1"/>
          </p:cNvPicPr>
          <p:nvPr/>
        </p:nvPicPr>
        <p:blipFill>
          <a:blip r:embed="rId4"/>
          <a:stretch>
            <a:fillRect/>
          </a:stretch>
        </p:blipFill>
        <p:spPr>
          <a:xfrm>
            <a:off x="891540" y="4686300"/>
            <a:ext cx="320040" cy="320040"/>
          </a:xfrm>
          <a:prstGeom prst="rect">
            <a:avLst/>
          </a:prstGeom>
        </p:spPr>
      </p:pic>
      <p:sp>
        <p:nvSpPr>
          <p:cNvPr id="21" name="Text 15"/>
          <p:cNvSpPr txBox="1"/>
          <p:nvPr/>
        </p:nvSpPr>
        <p:spPr>
          <a:xfrm>
            <a:off x="1600200" y="4636008"/>
            <a:ext cx="5760720" cy="457200"/>
          </a:xfrm>
          <a:prstGeom prst="rect">
            <a:avLst/>
          </a:prstGeom>
          <a:noFill/>
          <a:ln/>
        </p:spPr>
        <p:txBody>
          <a:bodyPr wrap="square" lIns="0" tIns="0" rIns="0" bIns="0" rtlCol="0" anchor="t"/>
          <a:lstStyle/>
          <a:p>
            <a:pPr indent="0" marL="0">
              <a:buNone/>
            </a:pPr>
            <a:r>
              <a:rPr lang="en-US" sz="1800" b="1" dirty="0">
                <a:solidFill>
                  <a:schemeClr val="tx2"/>
                </a:solidFill>
              </a:rPr>
              <a:t>Pew Research Center</a:t>
            </a:r>
            <a:endParaRPr lang="en-US" sz="1800" dirty="0"/>
          </a:p>
        </p:txBody>
      </p:sp>
      <p:sp>
        <p:nvSpPr>
          <p:cNvPr id="22" name="Text 16"/>
          <p:cNvSpPr txBox="1"/>
          <p:nvPr/>
        </p:nvSpPr>
        <p:spPr>
          <a:xfrm>
            <a:off x="7315200" y="4663440"/>
            <a:ext cx="4114800" cy="457200"/>
          </a:xfrm>
          <a:prstGeom prst="rect">
            <a:avLst/>
          </a:prstGeom>
          <a:noFill/>
          <a:ln/>
        </p:spPr>
        <p:txBody>
          <a:bodyPr wrap="square" lIns="0" tIns="0" rIns="0" bIns="0" rtlCol="0" anchor="t"/>
          <a:lstStyle/>
          <a:p>
            <a:pPr indent="0" marL="0">
              <a:buNone/>
            </a:pPr>
            <a:r>
              <a:rPr lang="en-US" sz="1400" dirty="0">
                <a:solidFill>
                  <a:schemeClr val="accent4"/>
                </a:solidFill>
              </a:rPr>
              <a:t>Search: "Pew gender roles survey"</a:t>
            </a:r>
            <a:endParaRPr lang="en-US" sz="1400" dirty="0"/>
          </a:p>
        </p:txBody>
      </p:sp>
      <p:sp>
        <p:nvSpPr>
          <p:cNvPr id="23" name="Shape 17"/>
          <p:cNvSpPr/>
          <p:nvPr/>
        </p:nvSpPr>
        <p:spPr>
          <a:xfrm>
            <a:off x="548640" y="5440680"/>
            <a:ext cx="1106424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4" name="Shape 18"/>
          <p:cNvSpPr/>
          <p:nvPr/>
        </p:nvSpPr>
        <p:spPr>
          <a:xfrm>
            <a:off x="731520" y="5532120"/>
            <a:ext cx="640080" cy="640080"/>
          </a:xfrm>
          <a:prstGeom prst="ellipse">
            <a:avLst/>
          </a:prstGeom>
          <a:solidFill>
            <a:schemeClr val="accent5"/>
          </a:solidFill>
          <a:ln w="12700">
            <a:solidFill>
              <a:schemeClr val="accent5"/>
            </a:solidFill>
            <a:prstDash val="solid"/>
          </a:ln>
        </p:spPr>
      </p:sp>
      <p:pic>
        <p:nvPicPr>
          <p:cNvPr id="25" name="Image 4" descr="preencoded.png">    </p:cNvPr>
          <p:cNvPicPr>
            <a:picLocks noChangeAspect="1"/>
          </p:cNvPicPr>
          <p:nvPr/>
        </p:nvPicPr>
        <p:blipFill>
          <a:blip r:embed="rId5"/>
          <a:stretch>
            <a:fillRect/>
          </a:stretch>
        </p:blipFill>
        <p:spPr>
          <a:xfrm>
            <a:off x="891540" y="5692140"/>
            <a:ext cx="320040" cy="320040"/>
          </a:xfrm>
          <a:prstGeom prst="rect">
            <a:avLst/>
          </a:prstGeom>
        </p:spPr>
      </p:pic>
      <p:sp>
        <p:nvSpPr>
          <p:cNvPr id="26" name="Text 19"/>
          <p:cNvSpPr txBox="1"/>
          <p:nvPr/>
        </p:nvSpPr>
        <p:spPr>
          <a:xfrm>
            <a:off x="1600200" y="5641848"/>
            <a:ext cx="5760720" cy="457200"/>
          </a:xfrm>
          <a:prstGeom prst="rect">
            <a:avLst/>
          </a:prstGeom>
          <a:noFill/>
          <a:ln/>
        </p:spPr>
        <p:txBody>
          <a:bodyPr wrap="square" lIns="0" tIns="0" rIns="0" bIns="0" rtlCol="0" anchor="t"/>
          <a:lstStyle/>
          <a:p>
            <a:pPr indent="0" marL="0">
              <a:buNone/>
            </a:pPr>
            <a:r>
              <a:rPr lang="en-US" sz="1800" b="1" dirty="0">
                <a:solidFill>
                  <a:schemeClr val="tx2"/>
                </a:solidFill>
              </a:rPr>
              <a:t>Search term</a:t>
            </a:r>
            <a:endParaRPr lang="en-US" sz="1800" dirty="0"/>
          </a:p>
        </p:txBody>
      </p:sp>
      <p:sp>
        <p:nvSpPr>
          <p:cNvPr id="27" name="Text 20"/>
          <p:cNvSpPr txBox="1"/>
          <p:nvPr/>
        </p:nvSpPr>
        <p:spPr>
          <a:xfrm>
            <a:off x="7315200" y="5669280"/>
            <a:ext cx="4114800" cy="457200"/>
          </a:xfrm>
          <a:prstGeom prst="rect">
            <a:avLst/>
          </a:prstGeom>
          <a:noFill/>
          <a:ln/>
        </p:spPr>
        <p:txBody>
          <a:bodyPr wrap="square" lIns="0" tIns="0" rIns="0" bIns="0" rtlCol="0" anchor="t"/>
          <a:lstStyle/>
          <a:p>
            <a:pPr indent="0" marL="0">
              <a:buNone/>
            </a:pPr>
            <a:r>
              <a:rPr lang="en-US" sz="1400" dirty="0">
                <a:solidFill>
                  <a:schemeClr val="accent4"/>
                </a:solidFill>
              </a:rPr>
              <a:t>"socialization and gender roles research"</a:t>
            </a:r>
            <a:endParaRPr lang="en-US" sz="14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Gender Roles">
  <a:themeElements>
    <a:clrScheme name="Gender Roles">
      <a:dk1>
        <a:srgbClr val="2B2240"/>
      </a:dk1>
      <a:lt1>
        <a:srgbClr val="FFFFFF"/>
      </a:lt1>
      <a:dk2>
        <a:srgbClr val="3D2C5E"/>
      </a:dk2>
      <a:lt2>
        <a:srgbClr val="F1EEF6"/>
      </a:lt2>
      <a:accent1>
        <a:srgbClr val="2A9D8F"/>
      </a:accent1>
      <a:accent2>
        <a:srgbClr val="E76F51"/>
      </a:accent2>
      <a:accent3>
        <a:srgbClr val="E9C46A"/>
      </a:accent3>
      <a:accent4>
        <a:srgbClr val="6C5B9E"/>
      </a:accent4>
      <a:accent5>
        <a:srgbClr val="8AB17D"/>
      </a:accent5>
      <a:accent6>
        <a:srgbClr val="264653"/>
      </a:accent6>
      <a:hlink>
        <a:srgbClr val="2A9D8F"/>
      </a:hlink>
      <a:folHlink>
        <a:srgbClr val="6C5B9E"/>
      </a:folHlink>
    </a:clrScheme>
    <a:fontScheme name="Gender Rol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Gender Roles and Expectations</dc:title>
  <dc:subject>PptxGenJS Presentation</dc:subject>
  <dc:creator>PptxGenJS</dc:creator>
  <cp:lastModifiedBy>PptxGenJS</cp:lastModifiedBy>
  <cp:revision>1</cp:revision>
  <dcterms:created xsi:type="dcterms:W3CDTF">2026-10-20T00:42:48Z</dcterms:created>
  <dcterms:modified xsi:type="dcterms:W3CDTF">2026-10-20T00:42:48Z</dcterms:modified>
</cp:coreProperties>
</file>